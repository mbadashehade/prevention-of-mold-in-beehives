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2" r:id="rId5"/>
    <p:sldId id="259" r:id="rId6"/>
    <p:sldId id="260" r:id="rId7"/>
    <p:sldId id="262" r:id="rId8"/>
    <p:sldId id="274" r:id="rId9"/>
    <p:sldId id="277" r:id="rId10"/>
    <p:sldId id="266" r:id="rId11"/>
    <p:sldId id="261" r:id="rId12"/>
    <p:sldId id="278" r:id="rId13"/>
    <p:sldId id="275" r:id="rId14"/>
    <p:sldId id="268" r:id="rId15"/>
  </p:sldIdLst>
  <p:sldSz cx="18288000" cy="10287000"/>
  <p:notesSz cx="6858000" cy="9144000"/>
  <p:embeddedFontLst>
    <p:embeddedFont>
      <p:font typeface="Avenir" panose="02000503020000020003" pitchFamily="2" charset="0"/>
      <p:regular r:id="rId17"/>
      <p:italic r:id="rId18"/>
    </p:embeddedFon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4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2" autoAdjust="0"/>
    <p:restoredTop sz="94654" autoAdjust="0"/>
  </p:normalViewPr>
  <p:slideViewPr>
    <p:cSldViewPr>
      <p:cViewPr>
        <p:scale>
          <a:sx n="79" d="100"/>
          <a:sy n="79" d="100"/>
        </p:scale>
        <p:origin x="1728" y="5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3T15:37:43.956"/>
    </inkml:context>
    <inkml:brush xml:id="br0">
      <inkml:brushProperty name="width" value="0.2" units="cm"/>
      <inkml:brushProperty name="height" value="0.4" units="cm"/>
      <inkml:brushProperty name="color" value="#E6E6E6"/>
      <inkml:brushProperty name="tip" value="rectangle"/>
      <inkml:brushProperty name="rasterOp" value="maskPen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D1155-F13E-224B-9032-F1993CFDD11C}" type="datetimeFigureOut">
              <a:rPr lang="en-IL" smtClean="0"/>
              <a:t>09/09/2025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64C65-0BC6-7C45-9E97-3AC1EBDF310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7836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64C65-0BC6-7C45-9E97-3AC1EBDF310C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9657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64C65-0BC6-7C45-9E97-3AC1EBDF310C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5388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64C65-0BC6-7C45-9E97-3AC1EBDF310C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26978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64C65-0BC6-7C45-9E97-3AC1EBDF310C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62494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64C65-0BC6-7C45-9E97-3AC1EBDF310C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89254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64C65-0BC6-7C45-9E97-3AC1EBDF310C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67927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64C65-0BC6-7C45-9E97-3AC1EBDF310C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9002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64C65-0BC6-7C45-9E97-3AC1EBDF310C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2067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5" Type="http://schemas.openxmlformats.org/officeDocument/2006/relationships/image" Target="../media/image14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4fCXC3UFnaY?start=2&amp;feature=oemb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6" name="Freeform 6" descr="preencoded.png"/>
          <p:cNvSpPr/>
          <p:nvPr/>
        </p:nvSpPr>
        <p:spPr>
          <a:xfrm>
            <a:off x="11429998" y="0"/>
            <a:ext cx="6866469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L" dirty="0"/>
          </a:p>
        </p:txBody>
      </p:sp>
      <p:sp>
        <p:nvSpPr>
          <p:cNvPr id="7" name="Freeform 7" descr="preencoded.png"/>
          <p:cNvSpPr/>
          <p:nvPr/>
        </p:nvSpPr>
        <p:spPr>
          <a:xfrm>
            <a:off x="2658128" y="533401"/>
            <a:ext cx="6272511" cy="2070757"/>
          </a:xfrm>
          <a:custGeom>
            <a:avLst/>
            <a:gdLst/>
            <a:ahLst/>
            <a:cxnLst/>
            <a:rect l="l" t="t" r="r" b="b"/>
            <a:pathLst>
              <a:path w="6272511" h="2070757">
                <a:moveTo>
                  <a:pt x="0" y="0"/>
                </a:moveTo>
                <a:lnTo>
                  <a:pt x="6272511" y="0"/>
                </a:lnTo>
                <a:lnTo>
                  <a:pt x="6272511" y="2070758"/>
                </a:lnTo>
                <a:lnTo>
                  <a:pt x="0" y="20707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0" r="-120"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8" name="TextBox 8"/>
          <p:cNvSpPr txBox="1"/>
          <p:nvPr/>
        </p:nvSpPr>
        <p:spPr>
          <a:xfrm>
            <a:off x="992238" y="3781927"/>
            <a:ext cx="9445526" cy="1800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Preventing Mold Growth in Beehives- phase B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6" y="6335165"/>
            <a:ext cx="9445526" cy="2862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latin typeface="Libre Baskerville" panose="02000000000000000000" pitchFamily="2" charset="0"/>
                <a:ea typeface="DM Sans"/>
                <a:cs typeface="DM Sans"/>
                <a:sym typeface="DM Sans"/>
              </a:rPr>
              <a:t>Presenters: Tamer Amer , Mbada Shehady</a:t>
            </a:r>
          </a:p>
          <a:p>
            <a:pPr algn="l">
              <a:lnSpc>
                <a:spcPts val="3562"/>
              </a:lnSpc>
            </a:pPr>
            <a:r>
              <a:rPr lang="en-US" sz="2400" dirty="0">
                <a:latin typeface="Libre Baskerville" panose="02000000000000000000" pitchFamily="2" charset="0"/>
                <a:ea typeface="DM Sans"/>
                <a:cs typeface="DM Sans"/>
                <a:sym typeface="DM Sans"/>
              </a:rPr>
              <a:t>Supervisor: Dr.Naomi Unkelos-Shpigel</a:t>
            </a:r>
          </a:p>
          <a:p>
            <a:pPr algn="l">
              <a:lnSpc>
                <a:spcPts val="3562"/>
              </a:lnSpc>
            </a:pPr>
            <a:endParaRPr lang="en-US" sz="2400" dirty="0">
              <a:latin typeface="Libre Baskerville" panose="02000000000000000000" pitchFamily="2" charset="0"/>
              <a:ea typeface="DM Sans"/>
              <a:cs typeface="DM Sans"/>
              <a:sym typeface="DM Sans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40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Libre Baskerville" panose="02000000000000000000" pitchFamily="2" charset="0"/>
              </a:rPr>
              <a:t>Project Code: </a:t>
            </a:r>
            <a:endParaRPr lang="en-US" sz="4000" dirty="0">
              <a:effectLst/>
              <a:highlight>
                <a:srgbClr val="FFFFFF"/>
              </a:highlight>
              <a:latin typeface="Libre Baskerville" panose="02000000000000000000" pitchFamily="2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40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Libre Baskerville" panose="02000000000000000000" pitchFamily="2" charset="0"/>
              </a:rPr>
              <a:t>25-1-D-11</a:t>
            </a:r>
            <a:endParaRPr lang="en-US" sz="4000" dirty="0">
              <a:effectLst/>
              <a:highlight>
                <a:srgbClr val="FFFFFF"/>
              </a:highlight>
              <a:latin typeface="Libre Baskerville" panose="02000000000000000000" pitchFamily="2" charset="0"/>
            </a:endParaRPr>
          </a:p>
          <a:p>
            <a:br>
              <a:rPr lang="en-US" sz="2400" dirty="0"/>
            </a:br>
            <a:endParaRPr lang="en-US" sz="2400" dirty="0">
              <a:latin typeface="Libre Baskerville" panose="02000000000000000000" pitchFamily="2" charset="0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/>
            <a:lstStyle/>
            <a:p>
              <a:endParaRPr lang="en-IL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03355" y="663625"/>
            <a:ext cx="5081290" cy="66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556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Road</a:t>
            </a:r>
            <a:r>
              <a:rPr lang="en-US" sz="49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Map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29712" y="1600349"/>
            <a:ext cx="28575" cy="8129290"/>
            <a:chOff x="0" y="0"/>
            <a:chExt cx="38100" cy="108390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00" cy="10839069"/>
            </a:xfrm>
            <a:custGeom>
              <a:avLst/>
              <a:gdLst/>
              <a:ahLst/>
              <a:cxnLst/>
              <a:rect l="l" t="t" r="r" b="b"/>
              <a:pathLst>
                <a:path w="38100" h="108390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820019"/>
                  </a:lnTo>
                  <a:cubicBezTo>
                    <a:pt x="38100" y="10830560"/>
                    <a:pt x="29591" y="10839069"/>
                    <a:pt x="19050" y="10839069"/>
                  </a:cubicBezTo>
                  <a:cubicBezTo>
                    <a:pt x="8509" y="10839069"/>
                    <a:pt x="0" y="10830560"/>
                    <a:pt x="0" y="10820019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32725" y="2043261"/>
            <a:ext cx="711250" cy="28575"/>
            <a:chOff x="0" y="0"/>
            <a:chExt cx="948333" cy="3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8309" cy="38100"/>
            </a:xfrm>
            <a:custGeom>
              <a:avLst/>
              <a:gdLst/>
              <a:ahLst/>
              <a:cxnLst/>
              <a:rect l="l" t="t" r="r" b="b"/>
              <a:pathLst>
                <a:path w="94830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259" y="0"/>
                  </a:lnTo>
                  <a:cubicBezTo>
                    <a:pt x="939800" y="0"/>
                    <a:pt x="948309" y="8509"/>
                    <a:pt x="948309" y="19050"/>
                  </a:cubicBezTo>
                  <a:cubicBezTo>
                    <a:pt x="948309" y="29591"/>
                    <a:pt x="939800" y="38100"/>
                    <a:pt x="92925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10638" y="1824186"/>
            <a:ext cx="466725" cy="466725"/>
            <a:chOff x="0" y="0"/>
            <a:chExt cx="622300" cy="622300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95808" y="0"/>
                  </a:lnTo>
                  <a:cubicBezTo>
                    <a:pt x="558673" y="0"/>
                    <a:pt x="609600" y="50927"/>
                    <a:pt x="609600" y="113792"/>
                  </a:cubicBezTo>
                  <a:lnTo>
                    <a:pt x="609600" y="495808"/>
                  </a:lnTo>
                  <a:cubicBezTo>
                    <a:pt x="609600" y="558673"/>
                    <a:pt x="558673" y="609600"/>
                    <a:pt x="495808" y="609600"/>
                  </a:cubicBezTo>
                  <a:lnTo>
                    <a:pt x="113792" y="609600"/>
                  </a:lnTo>
                  <a:cubicBezTo>
                    <a:pt x="50927" y="609600"/>
                    <a:pt x="0" y="558673"/>
                    <a:pt x="0" y="495808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20142"/>
                  </a:moveTo>
                  <a:cubicBezTo>
                    <a:pt x="0" y="53848"/>
                    <a:pt x="53848" y="0"/>
                    <a:pt x="120142" y="0"/>
                  </a:cubicBez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cubicBezTo>
                    <a:pt x="568452" y="0"/>
                    <a:pt x="622300" y="53848"/>
                    <a:pt x="622300" y="120142"/>
                  </a:cubicBezTo>
                  <a:lnTo>
                    <a:pt x="622300" y="502158"/>
                  </a:lnTo>
                  <a:lnTo>
                    <a:pt x="615950" y="502158"/>
                  </a:lnTo>
                  <a:lnTo>
                    <a:pt x="622300" y="502158"/>
                  </a:lnTo>
                  <a:cubicBezTo>
                    <a:pt x="622300" y="568452"/>
                    <a:pt x="568452" y="622300"/>
                    <a:pt x="502158" y="622300"/>
                  </a:cubicBezTo>
                  <a:lnTo>
                    <a:pt x="502158" y="615950"/>
                  </a:lnTo>
                  <a:lnTo>
                    <a:pt x="502158" y="622300"/>
                  </a:lnTo>
                  <a:lnTo>
                    <a:pt x="120142" y="622300"/>
                  </a:lnTo>
                  <a:lnTo>
                    <a:pt x="120142" y="615950"/>
                  </a:lnTo>
                  <a:lnTo>
                    <a:pt x="120142" y="622300"/>
                  </a:lnTo>
                  <a:cubicBezTo>
                    <a:pt x="53848" y="622300"/>
                    <a:pt x="0" y="568452"/>
                    <a:pt x="0" y="502158"/>
                  </a:cubicBezTo>
                  <a:lnTo>
                    <a:pt x="0" y="120142"/>
                  </a:lnTo>
                  <a:lnTo>
                    <a:pt x="6350" y="120142"/>
                  </a:lnTo>
                  <a:lnTo>
                    <a:pt x="0" y="120142"/>
                  </a:lnTo>
                  <a:moveTo>
                    <a:pt x="12700" y="120142"/>
                  </a:moveTo>
                  <a:lnTo>
                    <a:pt x="12700" y="502158"/>
                  </a:lnTo>
                  <a:lnTo>
                    <a:pt x="6350" y="502158"/>
                  </a:lnTo>
                  <a:lnTo>
                    <a:pt x="12700" y="502158"/>
                  </a:lnTo>
                  <a:cubicBezTo>
                    <a:pt x="12700" y="561467"/>
                    <a:pt x="60833" y="609600"/>
                    <a:pt x="120142" y="609600"/>
                  </a:cubicBezTo>
                  <a:lnTo>
                    <a:pt x="502158" y="609600"/>
                  </a:lnTo>
                  <a:cubicBezTo>
                    <a:pt x="561467" y="609600"/>
                    <a:pt x="609600" y="561467"/>
                    <a:pt x="609600" y="502158"/>
                  </a:cubicBezTo>
                  <a:lnTo>
                    <a:pt x="609600" y="120142"/>
                  </a:lnTo>
                  <a:lnTo>
                    <a:pt x="615950" y="120142"/>
                  </a:lnTo>
                  <a:lnTo>
                    <a:pt x="609600" y="120142"/>
                  </a:lnTo>
                  <a:cubicBezTo>
                    <a:pt x="609600" y="60833"/>
                    <a:pt x="561467" y="12700"/>
                    <a:pt x="502158" y="12700"/>
                  </a:cubicBezTo>
                  <a:lnTo>
                    <a:pt x="120142" y="12700"/>
                  </a:lnTo>
                  <a:lnTo>
                    <a:pt x="120142" y="6350"/>
                  </a:lnTo>
                  <a:lnTo>
                    <a:pt x="120142" y="12700"/>
                  </a:lnTo>
                  <a:cubicBezTo>
                    <a:pt x="60833" y="12700"/>
                    <a:pt x="12700" y="60833"/>
                    <a:pt x="12700" y="120142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075985" y="1962150"/>
            <a:ext cx="136029" cy="2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48400" y="1913111"/>
            <a:ext cx="1770013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499"/>
              </a:lnSpc>
            </a:pPr>
            <a:r>
              <a:rPr lang="en-US" sz="2249" dirty="0">
                <a:latin typeface="Libre Baskerville"/>
                <a:ea typeface="Libre Baskerville"/>
                <a:cs typeface="Libre Baskerville"/>
                <a:sym typeface="Libre Baskerville"/>
              </a:rPr>
              <a:t>Our Project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44025" y="3059311"/>
            <a:ext cx="711250" cy="28575"/>
            <a:chOff x="0" y="0"/>
            <a:chExt cx="948333" cy="38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48309" cy="38100"/>
            </a:xfrm>
            <a:custGeom>
              <a:avLst/>
              <a:gdLst/>
              <a:ahLst/>
              <a:cxnLst/>
              <a:rect l="l" t="t" r="r" b="b"/>
              <a:pathLst>
                <a:path w="94830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259" y="0"/>
                  </a:lnTo>
                  <a:cubicBezTo>
                    <a:pt x="939800" y="0"/>
                    <a:pt x="948309" y="8509"/>
                    <a:pt x="948309" y="19050"/>
                  </a:cubicBezTo>
                  <a:cubicBezTo>
                    <a:pt x="948309" y="29591"/>
                    <a:pt x="939800" y="38100"/>
                    <a:pt x="92925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10638" y="2840236"/>
            <a:ext cx="466725" cy="466725"/>
            <a:chOff x="0" y="0"/>
            <a:chExt cx="622300" cy="622300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95808" y="0"/>
                  </a:lnTo>
                  <a:cubicBezTo>
                    <a:pt x="558673" y="0"/>
                    <a:pt x="609600" y="50927"/>
                    <a:pt x="609600" y="113792"/>
                  </a:cubicBezTo>
                  <a:lnTo>
                    <a:pt x="609600" y="495808"/>
                  </a:lnTo>
                  <a:cubicBezTo>
                    <a:pt x="609600" y="558673"/>
                    <a:pt x="558673" y="609600"/>
                    <a:pt x="495808" y="609600"/>
                  </a:cubicBezTo>
                  <a:lnTo>
                    <a:pt x="113792" y="609600"/>
                  </a:lnTo>
                  <a:cubicBezTo>
                    <a:pt x="50927" y="609600"/>
                    <a:pt x="0" y="558673"/>
                    <a:pt x="0" y="495808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20142"/>
                  </a:moveTo>
                  <a:cubicBezTo>
                    <a:pt x="0" y="53848"/>
                    <a:pt x="53848" y="0"/>
                    <a:pt x="120142" y="0"/>
                  </a:cubicBez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cubicBezTo>
                    <a:pt x="568452" y="0"/>
                    <a:pt x="622300" y="53848"/>
                    <a:pt x="622300" y="120142"/>
                  </a:cubicBezTo>
                  <a:lnTo>
                    <a:pt x="622300" y="502158"/>
                  </a:lnTo>
                  <a:lnTo>
                    <a:pt x="615950" y="502158"/>
                  </a:lnTo>
                  <a:lnTo>
                    <a:pt x="622300" y="502158"/>
                  </a:lnTo>
                  <a:cubicBezTo>
                    <a:pt x="622300" y="568452"/>
                    <a:pt x="568452" y="622300"/>
                    <a:pt x="502158" y="622300"/>
                  </a:cubicBezTo>
                  <a:lnTo>
                    <a:pt x="502158" y="615950"/>
                  </a:lnTo>
                  <a:lnTo>
                    <a:pt x="502158" y="622300"/>
                  </a:lnTo>
                  <a:lnTo>
                    <a:pt x="120142" y="622300"/>
                  </a:lnTo>
                  <a:lnTo>
                    <a:pt x="120142" y="615950"/>
                  </a:lnTo>
                  <a:lnTo>
                    <a:pt x="120142" y="622300"/>
                  </a:lnTo>
                  <a:cubicBezTo>
                    <a:pt x="53848" y="622300"/>
                    <a:pt x="0" y="568452"/>
                    <a:pt x="0" y="502158"/>
                  </a:cubicBezTo>
                  <a:lnTo>
                    <a:pt x="0" y="120142"/>
                  </a:lnTo>
                  <a:lnTo>
                    <a:pt x="6350" y="120142"/>
                  </a:lnTo>
                  <a:lnTo>
                    <a:pt x="0" y="120142"/>
                  </a:lnTo>
                  <a:moveTo>
                    <a:pt x="12700" y="120142"/>
                  </a:moveTo>
                  <a:lnTo>
                    <a:pt x="12700" y="502158"/>
                  </a:lnTo>
                  <a:lnTo>
                    <a:pt x="6350" y="502158"/>
                  </a:lnTo>
                  <a:lnTo>
                    <a:pt x="12700" y="502158"/>
                  </a:lnTo>
                  <a:cubicBezTo>
                    <a:pt x="12700" y="561467"/>
                    <a:pt x="60833" y="609600"/>
                    <a:pt x="120142" y="609600"/>
                  </a:cubicBezTo>
                  <a:lnTo>
                    <a:pt x="502158" y="609600"/>
                  </a:lnTo>
                  <a:cubicBezTo>
                    <a:pt x="561467" y="609600"/>
                    <a:pt x="609600" y="561467"/>
                    <a:pt x="609600" y="502158"/>
                  </a:cubicBezTo>
                  <a:lnTo>
                    <a:pt x="609600" y="120142"/>
                  </a:lnTo>
                  <a:lnTo>
                    <a:pt x="615950" y="120142"/>
                  </a:lnTo>
                  <a:lnTo>
                    <a:pt x="609600" y="120142"/>
                  </a:lnTo>
                  <a:cubicBezTo>
                    <a:pt x="609600" y="60833"/>
                    <a:pt x="561467" y="12700"/>
                    <a:pt x="502158" y="12700"/>
                  </a:cubicBezTo>
                  <a:lnTo>
                    <a:pt x="120142" y="12700"/>
                  </a:lnTo>
                  <a:lnTo>
                    <a:pt x="120142" y="6350"/>
                  </a:lnTo>
                  <a:lnTo>
                    <a:pt x="120142" y="12700"/>
                  </a:lnTo>
                  <a:cubicBezTo>
                    <a:pt x="60833" y="12700"/>
                    <a:pt x="12700" y="60833"/>
                    <a:pt x="12700" y="120142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050090" y="2978200"/>
            <a:ext cx="187821" cy="2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61848" y="2957736"/>
            <a:ext cx="200635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249" dirty="0">
                <a:latin typeface="Libre Baskerville"/>
                <a:ea typeface="Libre Baskerville"/>
                <a:cs typeface="Libre Baskerville"/>
                <a:sym typeface="Libre Baskerville"/>
              </a:rPr>
              <a:t>Current State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232725" y="3973860"/>
            <a:ext cx="711250" cy="28575"/>
            <a:chOff x="0" y="0"/>
            <a:chExt cx="948333" cy="38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48309" cy="38100"/>
            </a:xfrm>
            <a:custGeom>
              <a:avLst/>
              <a:gdLst/>
              <a:ahLst/>
              <a:cxnLst/>
              <a:rect l="l" t="t" r="r" b="b"/>
              <a:pathLst>
                <a:path w="94830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259" y="0"/>
                  </a:lnTo>
                  <a:cubicBezTo>
                    <a:pt x="939800" y="0"/>
                    <a:pt x="948309" y="8509"/>
                    <a:pt x="948309" y="19050"/>
                  </a:cubicBezTo>
                  <a:cubicBezTo>
                    <a:pt x="948309" y="29591"/>
                    <a:pt x="939800" y="38100"/>
                    <a:pt x="92925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910638" y="3754785"/>
            <a:ext cx="466725" cy="466725"/>
            <a:chOff x="0" y="0"/>
            <a:chExt cx="622300" cy="622300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95808" y="0"/>
                  </a:lnTo>
                  <a:cubicBezTo>
                    <a:pt x="558673" y="0"/>
                    <a:pt x="609600" y="50927"/>
                    <a:pt x="609600" y="113792"/>
                  </a:cubicBezTo>
                  <a:lnTo>
                    <a:pt x="609600" y="495808"/>
                  </a:lnTo>
                  <a:cubicBezTo>
                    <a:pt x="609600" y="558673"/>
                    <a:pt x="558673" y="609600"/>
                    <a:pt x="495808" y="609600"/>
                  </a:cubicBezTo>
                  <a:lnTo>
                    <a:pt x="113792" y="609600"/>
                  </a:lnTo>
                  <a:cubicBezTo>
                    <a:pt x="50927" y="609600"/>
                    <a:pt x="0" y="558673"/>
                    <a:pt x="0" y="495808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20142"/>
                  </a:moveTo>
                  <a:cubicBezTo>
                    <a:pt x="0" y="53848"/>
                    <a:pt x="53848" y="0"/>
                    <a:pt x="120142" y="0"/>
                  </a:cubicBez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cubicBezTo>
                    <a:pt x="568452" y="0"/>
                    <a:pt x="622300" y="53848"/>
                    <a:pt x="622300" y="120142"/>
                  </a:cubicBezTo>
                  <a:lnTo>
                    <a:pt x="622300" y="502158"/>
                  </a:lnTo>
                  <a:lnTo>
                    <a:pt x="615950" y="502158"/>
                  </a:lnTo>
                  <a:lnTo>
                    <a:pt x="622300" y="502158"/>
                  </a:lnTo>
                  <a:cubicBezTo>
                    <a:pt x="622300" y="568452"/>
                    <a:pt x="568452" y="622300"/>
                    <a:pt x="502158" y="622300"/>
                  </a:cubicBezTo>
                  <a:lnTo>
                    <a:pt x="502158" y="615950"/>
                  </a:lnTo>
                  <a:lnTo>
                    <a:pt x="502158" y="622300"/>
                  </a:lnTo>
                  <a:lnTo>
                    <a:pt x="120142" y="622300"/>
                  </a:lnTo>
                  <a:lnTo>
                    <a:pt x="120142" y="615950"/>
                  </a:lnTo>
                  <a:lnTo>
                    <a:pt x="120142" y="622300"/>
                  </a:lnTo>
                  <a:cubicBezTo>
                    <a:pt x="53848" y="622300"/>
                    <a:pt x="0" y="568452"/>
                    <a:pt x="0" y="502158"/>
                  </a:cubicBezTo>
                  <a:lnTo>
                    <a:pt x="0" y="120142"/>
                  </a:lnTo>
                  <a:lnTo>
                    <a:pt x="6350" y="120142"/>
                  </a:lnTo>
                  <a:lnTo>
                    <a:pt x="0" y="120142"/>
                  </a:lnTo>
                  <a:moveTo>
                    <a:pt x="12700" y="120142"/>
                  </a:moveTo>
                  <a:lnTo>
                    <a:pt x="12700" y="502158"/>
                  </a:lnTo>
                  <a:lnTo>
                    <a:pt x="6350" y="502158"/>
                  </a:lnTo>
                  <a:lnTo>
                    <a:pt x="12700" y="502158"/>
                  </a:lnTo>
                  <a:cubicBezTo>
                    <a:pt x="12700" y="561467"/>
                    <a:pt x="60833" y="609600"/>
                    <a:pt x="120142" y="609600"/>
                  </a:cubicBezTo>
                  <a:lnTo>
                    <a:pt x="502158" y="609600"/>
                  </a:lnTo>
                  <a:cubicBezTo>
                    <a:pt x="561467" y="609600"/>
                    <a:pt x="609600" y="561467"/>
                    <a:pt x="609600" y="502158"/>
                  </a:cubicBezTo>
                  <a:lnTo>
                    <a:pt x="609600" y="120142"/>
                  </a:lnTo>
                  <a:lnTo>
                    <a:pt x="615950" y="120142"/>
                  </a:lnTo>
                  <a:lnTo>
                    <a:pt x="609600" y="120142"/>
                  </a:lnTo>
                  <a:cubicBezTo>
                    <a:pt x="609600" y="60833"/>
                    <a:pt x="561467" y="12700"/>
                    <a:pt x="502158" y="12700"/>
                  </a:cubicBezTo>
                  <a:lnTo>
                    <a:pt x="120142" y="12700"/>
                  </a:lnTo>
                  <a:lnTo>
                    <a:pt x="120142" y="6350"/>
                  </a:lnTo>
                  <a:lnTo>
                    <a:pt x="120142" y="12700"/>
                  </a:lnTo>
                  <a:cubicBezTo>
                    <a:pt x="60833" y="12700"/>
                    <a:pt x="12700" y="60833"/>
                    <a:pt x="12700" y="120142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050090" y="3892749"/>
            <a:ext cx="187821" cy="2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19850" y="3843710"/>
            <a:ext cx="157460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499"/>
              </a:lnSpc>
            </a:pPr>
            <a:r>
              <a:rPr lang="en-US" sz="2249" dirty="0">
                <a:latin typeface="Libre Baskerville"/>
                <a:ea typeface="Libre Baskerville"/>
                <a:cs typeface="Libre Baskerville"/>
                <a:sym typeface="Libre Baskerville"/>
              </a:rPr>
              <a:t>WorkFlow</a:t>
            </a:r>
            <a:br>
              <a:rPr lang="en-US" sz="2249" dirty="0"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lang="en-US" sz="2249" dirty="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9344025" y="4888409"/>
            <a:ext cx="711250" cy="28575"/>
            <a:chOff x="0" y="0"/>
            <a:chExt cx="948333" cy="38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48309" cy="38100"/>
            </a:xfrm>
            <a:custGeom>
              <a:avLst/>
              <a:gdLst/>
              <a:ahLst/>
              <a:cxnLst/>
              <a:rect l="l" t="t" r="r" b="b"/>
              <a:pathLst>
                <a:path w="94830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259" y="0"/>
                  </a:lnTo>
                  <a:cubicBezTo>
                    <a:pt x="939800" y="0"/>
                    <a:pt x="948309" y="8509"/>
                    <a:pt x="948309" y="19050"/>
                  </a:cubicBezTo>
                  <a:cubicBezTo>
                    <a:pt x="948309" y="29591"/>
                    <a:pt x="939800" y="38100"/>
                    <a:pt x="92925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910638" y="4669334"/>
            <a:ext cx="466725" cy="466725"/>
            <a:chOff x="0" y="0"/>
            <a:chExt cx="622300" cy="622300"/>
          </a:xfrm>
        </p:grpSpPr>
        <p:sp>
          <p:nvSpPr>
            <p:cNvPr id="32" name="Freeform 32"/>
            <p:cNvSpPr/>
            <p:nvPr/>
          </p:nvSpPr>
          <p:spPr>
            <a:xfrm>
              <a:off x="6350" y="63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95808" y="0"/>
                  </a:lnTo>
                  <a:cubicBezTo>
                    <a:pt x="558673" y="0"/>
                    <a:pt x="609600" y="50927"/>
                    <a:pt x="609600" y="113792"/>
                  </a:cubicBezTo>
                  <a:lnTo>
                    <a:pt x="609600" y="495808"/>
                  </a:lnTo>
                  <a:cubicBezTo>
                    <a:pt x="609600" y="558673"/>
                    <a:pt x="558673" y="609600"/>
                    <a:pt x="495808" y="609600"/>
                  </a:cubicBezTo>
                  <a:lnTo>
                    <a:pt x="113792" y="609600"/>
                  </a:lnTo>
                  <a:cubicBezTo>
                    <a:pt x="50927" y="609600"/>
                    <a:pt x="0" y="558673"/>
                    <a:pt x="0" y="495808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20142"/>
                  </a:moveTo>
                  <a:cubicBezTo>
                    <a:pt x="0" y="53848"/>
                    <a:pt x="53848" y="0"/>
                    <a:pt x="120142" y="0"/>
                  </a:cubicBez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cubicBezTo>
                    <a:pt x="568452" y="0"/>
                    <a:pt x="622300" y="53848"/>
                    <a:pt x="622300" y="120142"/>
                  </a:cubicBezTo>
                  <a:lnTo>
                    <a:pt x="622300" y="502158"/>
                  </a:lnTo>
                  <a:lnTo>
                    <a:pt x="615950" y="502158"/>
                  </a:lnTo>
                  <a:lnTo>
                    <a:pt x="622300" y="502158"/>
                  </a:lnTo>
                  <a:cubicBezTo>
                    <a:pt x="622300" y="568452"/>
                    <a:pt x="568452" y="622300"/>
                    <a:pt x="502158" y="622300"/>
                  </a:cubicBezTo>
                  <a:lnTo>
                    <a:pt x="502158" y="615950"/>
                  </a:lnTo>
                  <a:lnTo>
                    <a:pt x="502158" y="622300"/>
                  </a:lnTo>
                  <a:lnTo>
                    <a:pt x="120142" y="622300"/>
                  </a:lnTo>
                  <a:lnTo>
                    <a:pt x="120142" y="615950"/>
                  </a:lnTo>
                  <a:lnTo>
                    <a:pt x="120142" y="622300"/>
                  </a:lnTo>
                  <a:cubicBezTo>
                    <a:pt x="53848" y="622300"/>
                    <a:pt x="0" y="568452"/>
                    <a:pt x="0" y="502158"/>
                  </a:cubicBezTo>
                  <a:lnTo>
                    <a:pt x="0" y="120142"/>
                  </a:lnTo>
                  <a:lnTo>
                    <a:pt x="6350" y="120142"/>
                  </a:lnTo>
                  <a:lnTo>
                    <a:pt x="0" y="120142"/>
                  </a:lnTo>
                  <a:moveTo>
                    <a:pt x="12700" y="120142"/>
                  </a:moveTo>
                  <a:lnTo>
                    <a:pt x="12700" y="502158"/>
                  </a:lnTo>
                  <a:lnTo>
                    <a:pt x="6350" y="502158"/>
                  </a:lnTo>
                  <a:lnTo>
                    <a:pt x="12700" y="502158"/>
                  </a:lnTo>
                  <a:cubicBezTo>
                    <a:pt x="12700" y="561467"/>
                    <a:pt x="60833" y="609600"/>
                    <a:pt x="120142" y="609600"/>
                  </a:cubicBezTo>
                  <a:lnTo>
                    <a:pt x="502158" y="609600"/>
                  </a:lnTo>
                  <a:cubicBezTo>
                    <a:pt x="561467" y="609600"/>
                    <a:pt x="609600" y="561467"/>
                    <a:pt x="609600" y="502158"/>
                  </a:cubicBezTo>
                  <a:lnTo>
                    <a:pt x="609600" y="120142"/>
                  </a:lnTo>
                  <a:lnTo>
                    <a:pt x="615950" y="120142"/>
                  </a:lnTo>
                  <a:lnTo>
                    <a:pt x="609600" y="120142"/>
                  </a:lnTo>
                  <a:cubicBezTo>
                    <a:pt x="609600" y="60833"/>
                    <a:pt x="561467" y="12700"/>
                    <a:pt x="502158" y="12700"/>
                  </a:cubicBezTo>
                  <a:lnTo>
                    <a:pt x="120142" y="12700"/>
                  </a:lnTo>
                  <a:lnTo>
                    <a:pt x="120142" y="6350"/>
                  </a:lnTo>
                  <a:lnTo>
                    <a:pt x="120142" y="12700"/>
                  </a:lnTo>
                  <a:cubicBezTo>
                    <a:pt x="60833" y="12700"/>
                    <a:pt x="12700" y="60833"/>
                    <a:pt x="12700" y="120142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054704" y="4807298"/>
            <a:ext cx="178445" cy="2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8232725" y="5802958"/>
            <a:ext cx="711250" cy="28575"/>
            <a:chOff x="0" y="0"/>
            <a:chExt cx="948333" cy="381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48309" cy="38100"/>
            </a:xfrm>
            <a:custGeom>
              <a:avLst/>
              <a:gdLst/>
              <a:ahLst/>
              <a:cxnLst/>
              <a:rect l="l" t="t" r="r" b="b"/>
              <a:pathLst>
                <a:path w="94830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259" y="0"/>
                  </a:lnTo>
                  <a:cubicBezTo>
                    <a:pt x="939800" y="0"/>
                    <a:pt x="948309" y="8509"/>
                    <a:pt x="948309" y="19050"/>
                  </a:cubicBezTo>
                  <a:cubicBezTo>
                    <a:pt x="948309" y="29591"/>
                    <a:pt x="939800" y="38100"/>
                    <a:pt x="92925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10638" y="5583882"/>
            <a:ext cx="466725" cy="466725"/>
            <a:chOff x="0" y="0"/>
            <a:chExt cx="622300" cy="622300"/>
          </a:xfrm>
        </p:grpSpPr>
        <p:sp>
          <p:nvSpPr>
            <p:cNvPr id="39" name="Freeform 39"/>
            <p:cNvSpPr/>
            <p:nvPr/>
          </p:nvSpPr>
          <p:spPr>
            <a:xfrm>
              <a:off x="6350" y="63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95808" y="0"/>
                  </a:lnTo>
                  <a:cubicBezTo>
                    <a:pt x="558673" y="0"/>
                    <a:pt x="609600" y="50927"/>
                    <a:pt x="609600" y="113792"/>
                  </a:cubicBezTo>
                  <a:lnTo>
                    <a:pt x="609600" y="495808"/>
                  </a:lnTo>
                  <a:cubicBezTo>
                    <a:pt x="609600" y="558673"/>
                    <a:pt x="558673" y="609600"/>
                    <a:pt x="495808" y="609600"/>
                  </a:cubicBezTo>
                  <a:lnTo>
                    <a:pt x="113792" y="609600"/>
                  </a:lnTo>
                  <a:cubicBezTo>
                    <a:pt x="50927" y="609600"/>
                    <a:pt x="0" y="558673"/>
                    <a:pt x="0" y="495808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20142"/>
                  </a:moveTo>
                  <a:cubicBezTo>
                    <a:pt x="0" y="53848"/>
                    <a:pt x="53848" y="0"/>
                    <a:pt x="120142" y="0"/>
                  </a:cubicBez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cubicBezTo>
                    <a:pt x="568452" y="0"/>
                    <a:pt x="622300" y="53848"/>
                    <a:pt x="622300" y="120142"/>
                  </a:cubicBezTo>
                  <a:lnTo>
                    <a:pt x="622300" y="502158"/>
                  </a:lnTo>
                  <a:lnTo>
                    <a:pt x="615950" y="502158"/>
                  </a:lnTo>
                  <a:lnTo>
                    <a:pt x="622300" y="502158"/>
                  </a:lnTo>
                  <a:cubicBezTo>
                    <a:pt x="622300" y="568452"/>
                    <a:pt x="568452" y="622300"/>
                    <a:pt x="502158" y="622300"/>
                  </a:cubicBezTo>
                  <a:lnTo>
                    <a:pt x="502158" y="615950"/>
                  </a:lnTo>
                  <a:lnTo>
                    <a:pt x="502158" y="622300"/>
                  </a:lnTo>
                  <a:lnTo>
                    <a:pt x="120142" y="622300"/>
                  </a:lnTo>
                  <a:lnTo>
                    <a:pt x="120142" y="615950"/>
                  </a:lnTo>
                  <a:lnTo>
                    <a:pt x="120142" y="622300"/>
                  </a:lnTo>
                  <a:cubicBezTo>
                    <a:pt x="53848" y="622300"/>
                    <a:pt x="0" y="568452"/>
                    <a:pt x="0" y="502158"/>
                  </a:cubicBezTo>
                  <a:lnTo>
                    <a:pt x="0" y="120142"/>
                  </a:lnTo>
                  <a:lnTo>
                    <a:pt x="6350" y="120142"/>
                  </a:lnTo>
                  <a:lnTo>
                    <a:pt x="0" y="120142"/>
                  </a:lnTo>
                  <a:moveTo>
                    <a:pt x="12700" y="120142"/>
                  </a:moveTo>
                  <a:lnTo>
                    <a:pt x="12700" y="502158"/>
                  </a:lnTo>
                  <a:lnTo>
                    <a:pt x="6350" y="502158"/>
                  </a:lnTo>
                  <a:lnTo>
                    <a:pt x="12700" y="502158"/>
                  </a:lnTo>
                  <a:cubicBezTo>
                    <a:pt x="12700" y="561467"/>
                    <a:pt x="60833" y="609600"/>
                    <a:pt x="120142" y="609600"/>
                  </a:cubicBezTo>
                  <a:lnTo>
                    <a:pt x="502158" y="609600"/>
                  </a:lnTo>
                  <a:cubicBezTo>
                    <a:pt x="561467" y="609600"/>
                    <a:pt x="609600" y="561467"/>
                    <a:pt x="609600" y="502158"/>
                  </a:cubicBezTo>
                  <a:lnTo>
                    <a:pt x="609600" y="120142"/>
                  </a:lnTo>
                  <a:lnTo>
                    <a:pt x="615950" y="120142"/>
                  </a:lnTo>
                  <a:lnTo>
                    <a:pt x="609600" y="120142"/>
                  </a:lnTo>
                  <a:cubicBezTo>
                    <a:pt x="609600" y="60833"/>
                    <a:pt x="561467" y="12700"/>
                    <a:pt x="502158" y="12700"/>
                  </a:cubicBezTo>
                  <a:lnTo>
                    <a:pt x="120142" y="12700"/>
                  </a:lnTo>
                  <a:lnTo>
                    <a:pt x="120142" y="6350"/>
                  </a:lnTo>
                  <a:lnTo>
                    <a:pt x="120142" y="12700"/>
                  </a:lnTo>
                  <a:cubicBezTo>
                    <a:pt x="60833" y="12700"/>
                    <a:pt x="12700" y="60833"/>
                    <a:pt x="12700" y="120142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057382" y="5721846"/>
            <a:ext cx="173236" cy="2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344025" y="6717506"/>
            <a:ext cx="711250" cy="28575"/>
            <a:chOff x="0" y="0"/>
            <a:chExt cx="948333" cy="381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48309" cy="38100"/>
            </a:xfrm>
            <a:custGeom>
              <a:avLst/>
              <a:gdLst/>
              <a:ahLst/>
              <a:cxnLst/>
              <a:rect l="l" t="t" r="r" b="b"/>
              <a:pathLst>
                <a:path w="94830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259" y="0"/>
                  </a:lnTo>
                  <a:cubicBezTo>
                    <a:pt x="939800" y="0"/>
                    <a:pt x="948309" y="8509"/>
                    <a:pt x="948309" y="19050"/>
                  </a:cubicBezTo>
                  <a:cubicBezTo>
                    <a:pt x="948309" y="29591"/>
                    <a:pt x="939800" y="38100"/>
                    <a:pt x="92925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910638" y="6498431"/>
            <a:ext cx="466725" cy="466725"/>
            <a:chOff x="0" y="0"/>
            <a:chExt cx="622300" cy="622300"/>
          </a:xfrm>
        </p:grpSpPr>
        <p:sp>
          <p:nvSpPr>
            <p:cNvPr id="46" name="Freeform 46"/>
            <p:cNvSpPr/>
            <p:nvPr/>
          </p:nvSpPr>
          <p:spPr>
            <a:xfrm>
              <a:off x="6350" y="63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95808" y="0"/>
                  </a:lnTo>
                  <a:cubicBezTo>
                    <a:pt x="558673" y="0"/>
                    <a:pt x="609600" y="50927"/>
                    <a:pt x="609600" y="113792"/>
                  </a:cubicBezTo>
                  <a:lnTo>
                    <a:pt x="609600" y="495808"/>
                  </a:lnTo>
                  <a:cubicBezTo>
                    <a:pt x="609600" y="558673"/>
                    <a:pt x="558673" y="609600"/>
                    <a:pt x="495808" y="609600"/>
                  </a:cubicBezTo>
                  <a:lnTo>
                    <a:pt x="113792" y="609600"/>
                  </a:lnTo>
                  <a:cubicBezTo>
                    <a:pt x="50927" y="609600"/>
                    <a:pt x="0" y="558673"/>
                    <a:pt x="0" y="495808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20142"/>
                  </a:moveTo>
                  <a:cubicBezTo>
                    <a:pt x="0" y="53848"/>
                    <a:pt x="53848" y="0"/>
                    <a:pt x="120142" y="0"/>
                  </a:cubicBez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cubicBezTo>
                    <a:pt x="568452" y="0"/>
                    <a:pt x="622300" y="53848"/>
                    <a:pt x="622300" y="120142"/>
                  </a:cubicBezTo>
                  <a:lnTo>
                    <a:pt x="622300" y="502158"/>
                  </a:lnTo>
                  <a:lnTo>
                    <a:pt x="615950" y="502158"/>
                  </a:lnTo>
                  <a:lnTo>
                    <a:pt x="622300" y="502158"/>
                  </a:lnTo>
                  <a:cubicBezTo>
                    <a:pt x="622300" y="568452"/>
                    <a:pt x="568452" y="622300"/>
                    <a:pt x="502158" y="622300"/>
                  </a:cubicBezTo>
                  <a:lnTo>
                    <a:pt x="502158" y="615950"/>
                  </a:lnTo>
                  <a:lnTo>
                    <a:pt x="502158" y="622300"/>
                  </a:lnTo>
                  <a:lnTo>
                    <a:pt x="120142" y="622300"/>
                  </a:lnTo>
                  <a:lnTo>
                    <a:pt x="120142" y="615950"/>
                  </a:lnTo>
                  <a:lnTo>
                    <a:pt x="120142" y="622300"/>
                  </a:lnTo>
                  <a:cubicBezTo>
                    <a:pt x="53848" y="622300"/>
                    <a:pt x="0" y="568452"/>
                    <a:pt x="0" y="502158"/>
                  </a:cubicBezTo>
                  <a:lnTo>
                    <a:pt x="0" y="120142"/>
                  </a:lnTo>
                  <a:lnTo>
                    <a:pt x="6350" y="120142"/>
                  </a:lnTo>
                  <a:lnTo>
                    <a:pt x="0" y="120142"/>
                  </a:lnTo>
                  <a:moveTo>
                    <a:pt x="12700" y="120142"/>
                  </a:moveTo>
                  <a:lnTo>
                    <a:pt x="12700" y="502158"/>
                  </a:lnTo>
                  <a:lnTo>
                    <a:pt x="6350" y="502158"/>
                  </a:lnTo>
                  <a:lnTo>
                    <a:pt x="12700" y="502158"/>
                  </a:lnTo>
                  <a:cubicBezTo>
                    <a:pt x="12700" y="561467"/>
                    <a:pt x="60833" y="609600"/>
                    <a:pt x="120142" y="609600"/>
                  </a:cubicBezTo>
                  <a:lnTo>
                    <a:pt x="502158" y="609600"/>
                  </a:lnTo>
                  <a:cubicBezTo>
                    <a:pt x="561467" y="609600"/>
                    <a:pt x="609600" y="561467"/>
                    <a:pt x="609600" y="502158"/>
                  </a:cubicBezTo>
                  <a:lnTo>
                    <a:pt x="609600" y="120142"/>
                  </a:lnTo>
                  <a:lnTo>
                    <a:pt x="615950" y="120142"/>
                  </a:lnTo>
                  <a:lnTo>
                    <a:pt x="609600" y="120142"/>
                  </a:lnTo>
                  <a:cubicBezTo>
                    <a:pt x="609600" y="60833"/>
                    <a:pt x="561467" y="12700"/>
                    <a:pt x="502158" y="12700"/>
                  </a:cubicBezTo>
                  <a:lnTo>
                    <a:pt x="120142" y="12700"/>
                  </a:lnTo>
                  <a:lnTo>
                    <a:pt x="120142" y="6350"/>
                  </a:lnTo>
                  <a:lnTo>
                    <a:pt x="120142" y="12700"/>
                  </a:lnTo>
                  <a:cubicBezTo>
                    <a:pt x="60833" y="12700"/>
                    <a:pt x="12700" y="60833"/>
                    <a:pt x="12700" y="120142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9045922" y="6636395"/>
            <a:ext cx="196006" cy="2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8232725" y="7632055"/>
            <a:ext cx="711250" cy="28575"/>
            <a:chOff x="0" y="0"/>
            <a:chExt cx="948333" cy="381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48309" cy="38100"/>
            </a:xfrm>
            <a:custGeom>
              <a:avLst/>
              <a:gdLst/>
              <a:ahLst/>
              <a:cxnLst/>
              <a:rect l="l" t="t" r="r" b="b"/>
              <a:pathLst>
                <a:path w="94830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259" y="0"/>
                  </a:lnTo>
                  <a:cubicBezTo>
                    <a:pt x="939800" y="0"/>
                    <a:pt x="948309" y="8509"/>
                    <a:pt x="948309" y="19050"/>
                  </a:cubicBezTo>
                  <a:cubicBezTo>
                    <a:pt x="948309" y="29591"/>
                    <a:pt x="939800" y="38100"/>
                    <a:pt x="92925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910638" y="7412980"/>
            <a:ext cx="466725" cy="466725"/>
            <a:chOff x="0" y="0"/>
            <a:chExt cx="622300" cy="622300"/>
          </a:xfrm>
        </p:grpSpPr>
        <p:sp>
          <p:nvSpPr>
            <p:cNvPr id="53" name="Freeform 53"/>
            <p:cNvSpPr/>
            <p:nvPr/>
          </p:nvSpPr>
          <p:spPr>
            <a:xfrm>
              <a:off x="6350" y="63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95808" y="0"/>
                  </a:lnTo>
                  <a:cubicBezTo>
                    <a:pt x="558673" y="0"/>
                    <a:pt x="609600" y="50927"/>
                    <a:pt x="609600" y="113792"/>
                  </a:cubicBezTo>
                  <a:lnTo>
                    <a:pt x="609600" y="495808"/>
                  </a:lnTo>
                  <a:cubicBezTo>
                    <a:pt x="609600" y="558673"/>
                    <a:pt x="558673" y="609600"/>
                    <a:pt x="495808" y="609600"/>
                  </a:cubicBezTo>
                  <a:lnTo>
                    <a:pt x="113792" y="609600"/>
                  </a:lnTo>
                  <a:cubicBezTo>
                    <a:pt x="50927" y="609600"/>
                    <a:pt x="0" y="558673"/>
                    <a:pt x="0" y="495808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20142"/>
                  </a:moveTo>
                  <a:cubicBezTo>
                    <a:pt x="0" y="53848"/>
                    <a:pt x="53848" y="0"/>
                    <a:pt x="120142" y="0"/>
                  </a:cubicBez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cubicBezTo>
                    <a:pt x="568452" y="0"/>
                    <a:pt x="622300" y="53848"/>
                    <a:pt x="622300" y="120142"/>
                  </a:cubicBezTo>
                  <a:lnTo>
                    <a:pt x="622300" y="502158"/>
                  </a:lnTo>
                  <a:lnTo>
                    <a:pt x="615950" y="502158"/>
                  </a:lnTo>
                  <a:lnTo>
                    <a:pt x="622300" y="502158"/>
                  </a:lnTo>
                  <a:cubicBezTo>
                    <a:pt x="622300" y="568452"/>
                    <a:pt x="568452" y="622300"/>
                    <a:pt x="502158" y="622300"/>
                  </a:cubicBezTo>
                  <a:lnTo>
                    <a:pt x="502158" y="615950"/>
                  </a:lnTo>
                  <a:lnTo>
                    <a:pt x="502158" y="622300"/>
                  </a:lnTo>
                  <a:lnTo>
                    <a:pt x="120142" y="622300"/>
                  </a:lnTo>
                  <a:lnTo>
                    <a:pt x="120142" y="615950"/>
                  </a:lnTo>
                  <a:lnTo>
                    <a:pt x="120142" y="622300"/>
                  </a:lnTo>
                  <a:cubicBezTo>
                    <a:pt x="53848" y="622300"/>
                    <a:pt x="0" y="568452"/>
                    <a:pt x="0" y="502158"/>
                  </a:cubicBezTo>
                  <a:lnTo>
                    <a:pt x="0" y="120142"/>
                  </a:lnTo>
                  <a:lnTo>
                    <a:pt x="6350" y="120142"/>
                  </a:lnTo>
                  <a:lnTo>
                    <a:pt x="0" y="120142"/>
                  </a:lnTo>
                  <a:moveTo>
                    <a:pt x="12700" y="120142"/>
                  </a:moveTo>
                  <a:lnTo>
                    <a:pt x="12700" y="502158"/>
                  </a:lnTo>
                  <a:lnTo>
                    <a:pt x="6350" y="502158"/>
                  </a:lnTo>
                  <a:lnTo>
                    <a:pt x="12700" y="502158"/>
                  </a:lnTo>
                  <a:cubicBezTo>
                    <a:pt x="12700" y="561467"/>
                    <a:pt x="60833" y="609600"/>
                    <a:pt x="120142" y="609600"/>
                  </a:cubicBezTo>
                  <a:lnTo>
                    <a:pt x="502158" y="609600"/>
                  </a:lnTo>
                  <a:cubicBezTo>
                    <a:pt x="561467" y="609600"/>
                    <a:pt x="609600" y="561467"/>
                    <a:pt x="609600" y="502158"/>
                  </a:cubicBezTo>
                  <a:lnTo>
                    <a:pt x="609600" y="120142"/>
                  </a:lnTo>
                  <a:lnTo>
                    <a:pt x="615950" y="120142"/>
                  </a:lnTo>
                  <a:lnTo>
                    <a:pt x="609600" y="120142"/>
                  </a:lnTo>
                  <a:cubicBezTo>
                    <a:pt x="609600" y="60833"/>
                    <a:pt x="561467" y="12700"/>
                    <a:pt x="502158" y="12700"/>
                  </a:cubicBezTo>
                  <a:lnTo>
                    <a:pt x="120142" y="12700"/>
                  </a:lnTo>
                  <a:lnTo>
                    <a:pt x="120142" y="6350"/>
                  </a:lnTo>
                  <a:lnTo>
                    <a:pt x="120142" y="12700"/>
                  </a:lnTo>
                  <a:cubicBezTo>
                    <a:pt x="60833" y="12700"/>
                    <a:pt x="12700" y="60833"/>
                    <a:pt x="12700" y="120142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9067354" y="7550944"/>
            <a:ext cx="153144" cy="2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7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9344025" y="8546604"/>
            <a:ext cx="711250" cy="28575"/>
            <a:chOff x="0" y="0"/>
            <a:chExt cx="948333" cy="381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48309" cy="38100"/>
            </a:xfrm>
            <a:custGeom>
              <a:avLst/>
              <a:gdLst/>
              <a:ahLst/>
              <a:cxnLst/>
              <a:rect l="l" t="t" r="r" b="b"/>
              <a:pathLst>
                <a:path w="94830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259" y="0"/>
                  </a:lnTo>
                  <a:cubicBezTo>
                    <a:pt x="939800" y="0"/>
                    <a:pt x="948309" y="8509"/>
                    <a:pt x="948309" y="19050"/>
                  </a:cubicBezTo>
                  <a:cubicBezTo>
                    <a:pt x="948309" y="29591"/>
                    <a:pt x="939800" y="38100"/>
                    <a:pt x="92925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910638" y="8327529"/>
            <a:ext cx="466725" cy="466725"/>
            <a:chOff x="0" y="0"/>
            <a:chExt cx="622300" cy="622300"/>
          </a:xfrm>
        </p:grpSpPr>
        <p:sp>
          <p:nvSpPr>
            <p:cNvPr id="60" name="Freeform 60"/>
            <p:cNvSpPr/>
            <p:nvPr/>
          </p:nvSpPr>
          <p:spPr>
            <a:xfrm>
              <a:off x="6350" y="63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95808" y="0"/>
                  </a:lnTo>
                  <a:cubicBezTo>
                    <a:pt x="558673" y="0"/>
                    <a:pt x="609600" y="50927"/>
                    <a:pt x="609600" y="113792"/>
                  </a:cubicBezTo>
                  <a:lnTo>
                    <a:pt x="609600" y="495808"/>
                  </a:lnTo>
                  <a:cubicBezTo>
                    <a:pt x="609600" y="558673"/>
                    <a:pt x="558673" y="609600"/>
                    <a:pt x="495808" y="609600"/>
                  </a:cubicBezTo>
                  <a:lnTo>
                    <a:pt x="113792" y="609600"/>
                  </a:lnTo>
                  <a:cubicBezTo>
                    <a:pt x="50927" y="609600"/>
                    <a:pt x="0" y="558673"/>
                    <a:pt x="0" y="495808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20142"/>
                  </a:moveTo>
                  <a:cubicBezTo>
                    <a:pt x="0" y="53848"/>
                    <a:pt x="53848" y="0"/>
                    <a:pt x="120142" y="0"/>
                  </a:cubicBez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cubicBezTo>
                    <a:pt x="568452" y="0"/>
                    <a:pt x="622300" y="53848"/>
                    <a:pt x="622300" y="120142"/>
                  </a:cubicBezTo>
                  <a:lnTo>
                    <a:pt x="622300" y="502158"/>
                  </a:lnTo>
                  <a:lnTo>
                    <a:pt x="615950" y="502158"/>
                  </a:lnTo>
                  <a:lnTo>
                    <a:pt x="622300" y="502158"/>
                  </a:lnTo>
                  <a:cubicBezTo>
                    <a:pt x="622300" y="568452"/>
                    <a:pt x="568452" y="622300"/>
                    <a:pt x="502158" y="622300"/>
                  </a:cubicBezTo>
                  <a:lnTo>
                    <a:pt x="502158" y="615950"/>
                  </a:lnTo>
                  <a:lnTo>
                    <a:pt x="502158" y="622300"/>
                  </a:lnTo>
                  <a:lnTo>
                    <a:pt x="120142" y="622300"/>
                  </a:lnTo>
                  <a:lnTo>
                    <a:pt x="120142" y="615950"/>
                  </a:lnTo>
                  <a:lnTo>
                    <a:pt x="120142" y="622300"/>
                  </a:lnTo>
                  <a:cubicBezTo>
                    <a:pt x="53848" y="622300"/>
                    <a:pt x="0" y="568452"/>
                    <a:pt x="0" y="502158"/>
                  </a:cubicBezTo>
                  <a:lnTo>
                    <a:pt x="0" y="120142"/>
                  </a:lnTo>
                  <a:lnTo>
                    <a:pt x="6350" y="120142"/>
                  </a:lnTo>
                  <a:lnTo>
                    <a:pt x="0" y="120142"/>
                  </a:lnTo>
                  <a:moveTo>
                    <a:pt x="12700" y="120142"/>
                  </a:moveTo>
                  <a:lnTo>
                    <a:pt x="12700" y="502158"/>
                  </a:lnTo>
                  <a:lnTo>
                    <a:pt x="6350" y="502158"/>
                  </a:lnTo>
                  <a:lnTo>
                    <a:pt x="12700" y="502158"/>
                  </a:lnTo>
                  <a:cubicBezTo>
                    <a:pt x="12700" y="561467"/>
                    <a:pt x="60833" y="609600"/>
                    <a:pt x="120142" y="609600"/>
                  </a:cubicBezTo>
                  <a:lnTo>
                    <a:pt x="502158" y="609600"/>
                  </a:lnTo>
                  <a:cubicBezTo>
                    <a:pt x="561467" y="609600"/>
                    <a:pt x="609600" y="561467"/>
                    <a:pt x="609600" y="502158"/>
                  </a:cubicBezTo>
                  <a:lnTo>
                    <a:pt x="609600" y="120142"/>
                  </a:lnTo>
                  <a:lnTo>
                    <a:pt x="615950" y="120142"/>
                  </a:lnTo>
                  <a:lnTo>
                    <a:pt x="609600" y="120142"/>
                  </a:lnTo>
                  <a:cubicBezTo>
                    <a:pt x="609600" y="60833"/>
                    <a:pt x="561467" y="12700"/>
                    <a:pt x="502158" y="12700"/>
                  </a:cubicBezTo>
                  <a:lnTo>
                    <a:pt x="120142" y="12700"/>
                  </a:lnTo>
                  <a:lnTo>
                    <a:pt x="120142" y="6350"/>
                  </a:lnTo>
                  <a:lnTo>
                    <a:pt x="120142" y="12700"/>
                  </a:lnTo>
                  <a:cubicBezTo>
                    <a:pt x="60833" y="12700"/>
                    <a:pt x="12700" y="60833"/>
                    <a:pt x="12700" y="120142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9051578" y="8465492"/>
            <a:ext cx="184845" cy="2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13027E-AAFA-E390-D796-83C647EEFF12}"/>
              </a:ext>
            </a:extLst>
          </p:cNvPr>
          <p:cNvSpPr txBox="1"/>
          <p:nvPr/>
        </p:nvSpPr>
        <p:spPr>
          <a:xfrm>
            <a:off x="17440677" y="9498818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47CDC2-A8E4-8BD0-18C6-F7FFD5F2B24F}"/>
              </a:ext>
            </a:extLst>
          </p:cNvPr>
          <p:cNvSpPr txBox="1"/>
          <p:nvPr/>
        </p:nvSpPr>
        <p:spPr>
          <a:xfrm>
            <a:off x="10261848" y="4669334"/>
            <a:ext cx="200635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250" dirty="0">
                <a:latin typeface="Libre Baskerville" panose="02000000000000000000" pitchFamily="2" charset="0"/>
              </a:rPr>
              <a:t>Architcture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829048-0A17-B347-CC9A-8175B19AB4E3}"/>
              </a:ext>
            </a:extLst>
          </p:cNvPr>
          <p:cNvSpPr txBox="1"/>
          <p:nvPr/>
        </p:nvSpPr>
        <p:spPr>
          <a:xfrm>
            <a:off x="10051059" y="6553827"/>
            <a:ext cx="1485525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499"/>
              </a:lnSpc>
            </a:pPr>
            <a:r>
              <a:rPr lang="en-US" sz="2250" dirty="0">
                <a:latin typeface="Libre Baskerville"/>
                <a:ea typeface="Libre Baskerville"/>
                <a:cs typeface="Libre Baskerville"/>
                <a:sym typeface="Libre Baskerville"/>
              </a:rPr>
              <a:t>Testing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7D862F-107F-2FF4-A815-69B1117ABE41}"/>
              </a:ext>
            </a:extLst>
          </p:cNvPr>
          <p:cNvSpPr txBox="1"/>
          <p:nvPr/>
        </p:nvSpPr>
        <p:spPr>
          <a:xfrm>
            <a:off x="5825083" y="5576217"/>
            <a:ext cx="2221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499"/>
              </a:lnSpc>
            </a:pPr>
            <a:r>
              <a:rPr lang="en-US" sz="2250" dirty="0">
                <a:latin typeface="Libre Baskerville"/>
                <a:ea typeface="Libre Baskerville"/>
                <a:cs typeface="Libre Baskerville"/>
                <a:sym typeface="Libre Baskerville"/>
              </a:rPr>
              <a:t>Flow Chart</a:t>
            </a:r>
            <a:br>
              <a:rPr lang="en-US" sz="2250" dirty="0"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 lang="en-US" sz="2250" dirty="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CC8B14-6CA8-8A86-566F-4ACDBC33F68A}"/>
              </a:ext>
            </a:extLst>
          </p:cNvPr>
          <p:cNvSpPr txBox="1"/>
          <p:nvPr/>
        </p:nvSpPr>
        <p:spPr>
          <a:xfrm>
            <a:off x="6081117" y="7412980"/>
            <a:ext cx="2006352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499"/>
              </a:lnSpc>
            </a:pPr>
            <a:r>
              <a:rPr lang="en-US" sz="2250" dirty="0">
                <a:latin typeface="Libre Baskerville"/>
                <a:ea typeface="Libre Baskerville"/>
                <a:cs typeface="Libre Baskerville"/>
                <a:sym typeface="Libre Baskerville"/>
              </a:rPr>
              <a:t>FR &amp; NFR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031763-FADB-F482-536C-242261A0F108}"/>
              </a:ext>
            </a:extLst>
          </p:cNvPr>
          <p:cNvSpPr txBox="1"/>
          <p:nvPr/>
        </p:nvSpPr>
        <p:spPr>
          <a:xfrm>
            <a:off x="10075442" y="8383406"/>
            <a:ext cx="1949199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499"/>
              </a:lnSpc>
            </a:pPr>
            <a:r>
              <a:rPr lang="en-US" sz="2250" dirty="0">
                <a:latin typeface="Libre Baskerville"/>
                <a:ea typeface="Libre Baskerville"/>
                <a:cs typeface="Libre Baskerville"/>
                <a:sym typeface="Libre Baskerville"/>
              </a:rPr>
              <a:t>Challenges</a:t>
            </a:r>
          </a:p>
        </p:txBody>
      </p:sp>
      <p:grpSp>
        <p:nvGrpSpPr>
          <p:cNvPr id="73" name="Group 59">
            <a:extLst>
              <a:ext uri="{FF2B5EF4-FFF2-40B4-BE49-F238E27FC236}">
                <a16:creationId xmlns:a16="http://schemas.microsoft.com/office/drawing/2014/main" id="{E5D50A50-192C-325D-8629-70B341B78C7A}"/>
              </a:ext>
            </a:extLst>
          </p:cNvPr>
          <p:cNvGrpSpPr/>
          <p:nvPr/>
        </p:nvGrpSpPr>
        <p:grpSpPr>
          <a:xfrm>
            <a:off x="8896349" y="9246840"/>
            <a:ext cx="466725" cy="466725"/>
            <a:chOff x="0" y="0"/>
            <a:chExt cx="622300" cy="622300"/>
          </a:xfrm>
        </p:grpSpPr>
        <p:sp>
          <p:nvSpPr>
            <p:cNvPr id="74" name="Freeform 60">
              <a:extLst>
                <a:ext uri="{FF2B5EF4-FFF2-40B4-BE49-F238E27FC236}">
                  <a16:creationId xmlns:a16="http://schemas.microsoft.com/office/drawing/2014/main" id="{F936C18B-D22C-63BA-055C-C636C8B43A4A}"/>
                </a:ext>
              </a:extLst>
            </p:cNvPr>
            <p:cNvSpPr/>
            <p:nvPr/>
          </p:nvSpPr>
          <p:spPr>
            <a:xfrm>
              <a:off x="6350" y="63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113792"/>
                  </a:moveTo>
                  <a:cubicBezTo>
                    <a:pt x="0" y="50927"/>
                    <a:pt x="50927" y="0"/>
                    <a:pt x="113792" y="0"/>
                  </a:cubicBezTo>
                  <a:lnTo>
                    <a:pt x="495808" y="0"/>
                  </a:lnTo>
                  <a:cubicBezTo>
                    <a:pt x="558673" y="0"/>
                    <a:pt x="609600" y="50927"/>
                    <a:pt x="609600" y="113792"/>
                  </a:cubicBezTo>
                  <a:lnTo>
                    <a:pt x="609600" y="495808"/>
                  </a:lnTo>
                  <a:cubicBezTo>
                    <a:pt x="609600" y="558673"/>
                    <a:pt x="558673" y="609600"/>
                    <a:pt x="495808" y="609600"/>
                  </a:cubicBezTo>
                  <a:lnTo>
                    <a:pt x="113792" y="609600"/>
                  </a:lnTo>
                  <a:cubicBezTo>
                    <a:pt x="50927" y="609600"/>
                    <a:pt x="0" y="558673"/>
                    <a:pt x="0" y="495808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pPr algn="ctr"/>
              <a:r>
                <a:rPr lang="en-IL" sz="2380" dirty="0">
                  <a:latin typeface="Libre Baskerville" panose="02000000000000000000" pitchFamily="2" charset="0"/>
                </a:rPr>
                <a:t>9</a:t>
              </a:r>
            </a:p>
          </p:txBody>
        </p:sp>
        <p:sp>
          <p:nvSpPr>
            <p:cNvPr id="75" name="Freeform 61">
              <a:extLst>
                <a:ext uri="{FF2B5EF4-FFF2-40B4-BE49-F238E27FC236}">
                  <a16:creationId xmlns:a16="http://schemas.microsoft.com/office/drawing/2014/main" id="{A09EF7B7-6F5A-7DE5-9511-2B253BE1106F}"/>
                </a:ext>
              </a:extLst>
            </p:cNvPr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20142"/>
                  </a:moveTo>
                  <a:cubicBezTo>
                    <a:pt x="0" y="53848"/>
                    <a:pt x="53848" y="0"/>
                    <a:pt x="120142" y="0"/>
                  </a:cubicBez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lnTo>
                    <a:pt x="502158" y="6350"/>
                  </a:lnTo>
                  <a:lnTo>
                    <a:pt x="502158" y="0"/>
                  </a:lnTo>
                  <a:cubicBezTo>
                    <a:pt x="568452" y="0"/>
                    <a:pt x="622300" y="53848"/>
                    <a:pt x="622300" y="120142"/>
                  </a:cubicBezTo>
                  <a:lnTo>
                    <a:pt x="622300" y="502158"/>
                  </a:lnTo>
                  <a:lnTo>
                    <a:pt x="615950" y="502158"/>
                  </a:lnTo>
                  <a:lnTo>
                    <a:pt x="622300" y="502158"/>
                  </a:lnTo>
                  <a:cubicBezTo>
                    <a:pt x="622300" y="568452"/>
                    <a:pt x="568452" y="622300"/>
                    <a:pt x="502158" y="622300"/>
                  </a:cubicBezTo>
                  <a:lnTo>
                    <a:pt x="502158" y="615950"/>
                  </a:lnTo>
                  <a:lnTo>
                    <a:pt x="502158" y="622300"/>
                  </a:lnTo>
                  <a:lnTo>
                    <a:pt x="120142" y="622300"/>
                  </a:lnTo>
                  <a:lnTo>
                    <a:pt x="120142" y="615950"/>
                  </a:lnTo>
                  <a:lnTo>
                    <a:pt x="120142" y="622300"/>
                  </a:lnTo>
                  <a:cubicBezTo>
                    <a:pt x="53848" y="622300"/>
                    <a:pt x="0" y="568452"/>
                    <a:pt x="0" y="502158"/>
                  </a:cubicBezTo>
                  <a:lnTo>
                    <a:pt x="0" y="120142"/>
                  </a:lnTo>
                  <a:lnTo>
                    <a:pt x="6350" y="120142"/>
                  </a:lnTo>
                  <a:lnTo>
                    <a:pt x="0" y="120142"/>
                  </a:lnTo>
                  <a:moveTo>
                    <a:pt x="12700" y="120142"/>
                  </a:moveTo>
                  <a:lnTo>
                    <a:pt x="12700" y="502158"/>
                  </a:lnTo>
                  <a:lnTo>
                    <a:pt x="6350" y="502158"/>
                  </a:lnTo>
                  <a:lnTo>
                    <a:pt x="12700" y="502158"/>
                  </a:lnTo>
                  <a:cubicBezTo>
                    <a:pt x="12700" y="561467"/>
                    <a:pt x="60833" y="609600"/>
                    <a:pt x="120142" y="609600"/>
                  </a:cubicBezTo>
                  <a:lnTo>
                    <a:pt x="502158" y="609600"/>
                  </a:lnTo>
                  <a:cubicBezTo>
                    <a:pt x="561467" y="609600"/>
                    <a:pt x="609600" y="561467"/>
                    <a:pt x="609600" y="502158"/>
                  </a:cubicBezTo>
                  <a:lnTo>
                    <a:pt x="609600" y="120142"/>
                  </a:lnTo>
                  <a:lnTo>
                    <a:pt x="615950" y="120142"/>
                  </a:lnTo>
                  <a:lnTo>
                    <a:pt x="609600" y="120142"/>
                  </a:lnTo>
                  <a:cubicBezTo>
                    <a:pt x="609600" y="60833"/>
                    <a:pt x="561467" y="12700"/>
                    <a:pt x="502158" y="12700"/>
                  </a:cubicBezTo>
                  <a:lnTo>
                    <a:pt x="120142" y="12700"/>
                  </a:lnTo>
                  <a:lnTo>
                    <a:pt x="120142" y="6350"/>
                  </a:lnTo>
                  <a:lnTo>
                    <a:pt x="120142" y="12700"/>
                  </a:lnTo>
                  <a:cubicBezTo>
                    <a:pt x="60833" y="12700"/>
                    <a:pt x="12700" y="60833"/>
                    <a:pt x="12700" y="120142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76" name="Group 50">
            <a:extLst>
              <a:ext uri="{FF2B5EF4-FFF2-40B4-BE49-F238E27FC236}">
                <a16:creationId xmlns:a16="http://schemas.microsoft.com/office/drawing/2014/main" id="{7C4CFAF1-957C-7662-6223-135F6D4C3467}"/>
              </a:ext>
            </a:extLst>
          </p:cNvPr>
          <p:cNvGrpSpPr/>
          <p:nvPr/>
        </p:nvGrpSpPr>
        <p:grpSpPr>
          <a:xfrm>
            <a:off x="8275677" y="9494907"/>
            <a:ext cx="634558" cy="45719"/>
            <a:chOff x="0" y="0"/>
            <a:chExt cx="948333" cy="38100"/>
          </a:xfrm>
        </p:grpSpPr>
        <p:sp>
          <p:nvSpPr>
            <p:cNvPr id="77" name="Freeform 51">
              <a:extLst>
                <a:ext uri="{FF2B5EF4-FFF2-40B4-BE49-F238E27FC236}">
                  <a16:creationId xmlns:a16="http://schemas.microsoft.com/office/drawing/2014/main" id="{3CF8AA68-8778-F658-D46B-3243DB077478}"/>
                </a:ext>
              </a:extLst>
            </p:cNvPr>
            <p:cNvSpPr/>
            <p:nvPr/>
          </p:nvSpPr>
          <p:spPr>
            <a:xfrm>
              <a:off x="0" y="0"/>
              <a:ext cx="948309" cy="38100"/>
            </a:xfrm>
            <a:custGeom>
              <a:avLst/>
              <a:gdLst/>
              <a:ahLst/>
              <a:cxnLst/>
              <a:rect l="l" t="t" r="r" b="b"/>
              <a:pathLst>
                <a:path w="94830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259" y="0"/>
                  </a:lnTo>
                  <a:cubicBezTo>
                    <a:pt x="939800" y="0"/>
                    <a:pt x="948309" y="8509"/>
                    <a:pt x="948309" y="19050"/>
                  </a:cubicBezTo>
                  <a:cubicBezTo>
                    <a:pt x="948309" y="29591"/>
                    <a:pt x="939800" y="38100"/>
                    <a:pt x="92925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EA434D72-5D4E-F207-55B3-CA6D9CF84270}"/>
              </a:ext>
            </a:extLst>
          </p:cNvPr>
          <p:cNvSpPr txBox="1"/>
          <p:nvPr/>
        </p:nvSpPr>
        <p:spPr>
          <a:xfrm>
            <a:off x="5101628" y="8929143"/>
            <a:ext cx="3120322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350" dirty="0"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 sz="2350" dirty="0">
                <a:latin typeface="Libre Baskerville"/>
                <a:ea typeface="Libre Baskerville"/>
                <a:cs typeface="Libre Baskerville"/>
                <a:sym typeface="Libre Baskerville"/>
              </a:rPr>
              <a:t>SUS Questionnaire</a:t>
            </a:r>
            <a:endParaRPr lang="en-IL" sz="2350" dirty="0">
              <a:latin typeface="Libre Baskerville" panose="02000000000000000000" pitchFamily="2" charset="0"/>
            </a:endParaRPr>
          </a:p>
          <a:p>
            <a:endParaRPr lang="en-IL" sz="2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4572000" cy="10287000"/>
          </a:xfrm>
          <a:custGeom>
            <a:avLst/>
            <a:gdLst/>
            <a:ahLst/>
            <a:cxnLst/>
            <a:rect l="l" t="t" r="r" b="b"/>
            <a:pathLst>
              <a:path w="4572000" h="10287000">
                <a:moveTo>
                  <a:pt x="0" y="0"/>
                </a:moveTo>
                <a:lnTo>
                  <a:pt x="4572000" y="0"/>
                </a:lnTo>
                <a:lnTo>
                  <a:pt x="457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6" name="TextBox 6"/>
          <p:cNvSpPr txBox="1"/>
          <p:nvPr/>
        </p:nvSpPr>
        <p:spPr>
          <a:xfrm>
            <a:off x="5422329" y="2006204"/>
            <a:ext cx="5670649" cy="739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556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Project</a:t>
            </a:r>
            <a:endParaRPr lang="en-US" sz="6000" dirty="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559475" y="3763715"/>
            <a:ext cx="647402" cy="647402"/>
            <a:chOff x="0" y="0"/>
            <a:chExt cx="863203" cy="863203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88224" y="3931890"/>
            <a:ext cx="189756" cy="428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70320" y="3837907"/>
            <a:ext cx="3544044" cy="41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Weather changes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85632" y="4286250"/>
            <a:ext cx="4852530" cy="1342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87" dirty="0">
                <a:latin typeface="Libre Baskerville" panose="02000000000000000000" pitchFamily="2" charset="0"/>
                <a:ea typeface="DM Sans"/>
                <a:cs typeface="DM Sans"/>
                <a:sym typeface="DM Sans"/>
              </a:rPr>
              <a:t>High humidity in winter promotes mold growth (Fernandes et al., 2024)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567071" y="3763715"/>
            <a:ext cx="647402" cy="647402"/>
            <a:chOff x="0" y="0"/>
            <a:chExt cx="863203" cy="863203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 dirty="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759804" y="3931890"/>
            <a:ext cx="261938" cy="36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88466" y="3824288"/>
            <a:ext cx="3544044" cy="41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Health Impact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93229" y="4286250"/>
            <a:ext cx="4802684" cy="881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latin typeface="Libre Baskerville" panose="02000000000000000000" pitchFamily="2" charset="0"/>
                <a:ea typeface="DM Sans"/>
                <a:cs typeface="DM Sans"/>
                <a:sym typeface="DM Sans"/>
              </a:rPr>
              <a:t>Mold affects the quality of stored honey that we consume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559475" y="6133254"/>
            <a:ext cx="647402" cy="647402"/>
            <a:chOff x="0" y="0"/>
            <a:chExt cx="863203" cy="863203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endParaRPr lang="en-I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752208" y="6334124"/>
            <a:ext cx="225772" cy="428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85632" y="6253385"/>
            <a:ext cx="3544044" cy="41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Colony Collapse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85632" y="6687471"/>
            <a:ext cx="4802684" cy="134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87" dirty="0">
                <a:latin typeface="Libre Baskerville" panose="02000000000000000000" pitchFamily="2" charset="0"/>
                <a:ea typeface="DM Sans"/>
                <a:cs typeface="DM Sans"/>
                <a:sym typeface="DM Sans"/>
              </a:rPr>
              <a:t>Persistent mold makes hives uninhabitable for bees (Zeaiter &amp; Myerscough, 2020)</a:t>
            </a:r>
            <a:endParaRPr lang="en-US" sz="2190" dirty="0">
              <a:latin typeface="Libre Baskerville" panose="02000000000000000000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5A65BF-1D0A-6388-E015-8853CABDFB22}"/>
              </a:ext>
            </a:extLst>
          </p:cNvPr>
          <p:cNvSpPr txBox="1"/>
          <p:nvPr/>
        </p:nvSpPr>
        <p:spPr>
          <a:xfrm>
            <a:off x="17440677" y="9498818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3</a:t>
            </a:r>
          </a:p>
        </p:txBody>
      </p:sp>
      <p:grpSp>
        <p:nvGrpSpPr>
          <p:cNvPr id="25" name="Group 13">
            <a:extLst>
              <a:ext uri="{FF2B5EF4-FFF2-40B4-BE49-F238E27FC236}">
                <a16:creationId xmlns:a16="http://schemas.microsoft.com/office/drawing/2014/main" id="{DC5B5B25-7D5D-A194-EC69-3944A6F4778D}"/>
              </a:ext>
            </a:extLst>
          </p:cNvPr>
          <p:cNvGrpSpPr/>
          <p:nvPr/>
        </p:nvGrpSpPr>
        <p:grpSpPr>
          <a:xfrm>
            <a:off x="11601278" y="6077231"/>
            <a:ext cx="647414" cy="647414"/>
            <a:chOff x="0" y="0"/>
            <a:chExt cx="863219" cy="863219"/>
          </a:xfrm>
        </p:grpSpPr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C74B1943-837E-11E0-0FA0-339D09DC4976}"/>
                </a:ext>
              </a:extLst>
            </p:cNvPr>
            <p:cNvSpPr/>
            <p:nvPr/>
          </p:nvSpPr>
          <p:spPr>
            <a:xfrm>
              <a:off x="6349" y="6349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F7EDD4"/>
            </a:solidFill>
          </p:spPr>
          <p:txBody>
            <a:bodyPr/>
            <a:lstStyle/>
            <a:p>
              <a:pPr algn="ctr"/>
              <a:r>
                <a:rPr lang="en-IL" sz="3310" dirty="0">
                  <a:solidFill>
                    <a:srgbClr val="5C4E3D"/>
                  </a:solidFill>
                  <a:latin typeface="Libre Baskerville" panose="02000000000000000000" pitchFamily="2" charset="0"/>
                </a:rPr>
                <a:t>4</a:t>
              </a:r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8C8D6E38-399D-50E4-05E9-B028955C9B44}"/>
                </a:ext>
              </a:extLst>
            </p:cNvPr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7574FED-D4F0-2FB0-7184-ACF236C01725}"/>
              </a:ext>
            </a:extLst>
          </p:cNvPr>
          <p:cNvSpPr txBox="1"/>
          <p:nvPr/>
        </p:nvSpPr>
        <p:spPr>
          <a:xfrm>
            <a:off x="12417028" y="6133254"/>
            <a:ext cx="4428083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750" dirty="0">
                <a:solidFill>
                  <a:srgbClr val="5C4E3D"/>
                </a:solidFill>
                <a:latin typeface="Libre Baskerville" panose="02000000000000000000" pitchFamily="2" charset="0"/>
              </a:rPr>
              <a:t>Reduce Productivity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CD4F88-8140-DF85-DBD7-81D599502BE9}"/>
              </a:ext>
            </a:extLst>
          </p:cNvPr>
          <p:cNvSpPr txBox="1"/>
          <p:nvPr/>
        </p:nvSpPr>
        <p:spPr>
          <a:xfrm>
            <a:off x="12488466" y="6724645"/>
            <a:ext cx="4656534" cy="1440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90" b="0" i="0" u="none" strike="noStrike" dirty="0">
                <a:effectLst/>
                <a:latin typeface="Libre Baskerville" panose="02000000000000000000" pitchFamily="2" charset="0"/>
              </a:rPr>
              <a:t>Bees expend more energy removing moldy combs </a:t>
            </a:r>
            <a:r>
              <a:rPr lang="en-US" sz="2190" b="0" i="0" dirty="0">
                <a:effectLst/>
                <a:latin typeface="Libre Baskerville" panose="02000000000000000000" pitchFamily="2" charset="0"/>
              </a:rPr>
              <a:t>(Becchimanzi &amp; Nicoletti, 2022)</a:t>
            </a:r>
            <a:endParaRPr lang="en-IL" sz="2190" dirty="0">
              <a:latin typeface="Libre Baskerville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63481273-1146-A774-DEA2-5706F9BDA99E}"/>
              </a:ext>
            </a:extLst>
          </p:cNvPr>
          <p:cNvGrpSpPr/>
          <p:nvPr/>
        </p:nvGrpSpPr>
        <p:grpSpPr>
          <a:xfrm>
            <a:off x="0" y="-28575"/>
            <a:ext cx="18288000" cy="10287000"/>
            <a:chOff x="0" y="0"/>
            <a:chExt cx="24384000" cy="13716000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EF1BA045-7F79-F7AC-D408-6C574A5D2B68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/>
            <a:lstStyle/>
            <a:p>
              <a:endParaRPr lang="en-IL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67BE0FC-EFDF-A762-9E2A-F29240704D79}"/>
              </a:ext>
            </a:extLst>
          </p:cNvPr>
          <p:cNvSpPr txBox="1"/>
          <p:nvPr/>
        </p:nvSpPr>
        <p:spPr>
          <a:xfrm>
            <a:off x="762000" y="896657"/>
            <a:ext cx="9515474" cy="817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556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Current State:</a:t>
            </a:r>
          </a:p>
        </p:txBody>
      </p:sp>
      <p:pic>
        <p:nvPicPr>
          <p:cNvPr id="16" name="Picture 15" descr="A person holding a spray bottle and a honeycomb&#10;&#10;Description automatically generated">
            <a:extLst>
              <a:ext uri="{FF2B5EF4-FFF2-40B4-BE49-F238E27FC236}">
                <a16:creationId xmlns:a16="http://schemas.microsoft.com/office/drawing/2014/main" id="{9C9D721D-4C96-8773-079A-3FFBC5439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910" y="6210300"/>
            <a:ext cx="6021490" cy="34830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236CD1B-3AC8-E0BB-68F9-99AFAF273F18}"/>
              </a:ext>
            </a:extLst>
          </p:cNvPr>
          <p:cNvSpPr txBox="1"/>
          <p:nvPr/>
        </p:nvSpPr>
        <p:spPr>
          <a:xfrm>
            <a:off x="990600" y="1713237"/>
            <a:ext cx="11963400" cy="5000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2400" b="1" dirty="0">
                <a:latin typeface="Libre Baskerville"/>
                <a:ea typeface="Libre Baskerville"/>
                <a:cs typeface="Libre Baskerville"/>
                <a:sym typeface="Libre Baskerville"/>
              </a:rPr>
              <a:t>1. </a:t>
            </a:r>
            <a:r>
              <a:rPr lang="en-US" sz="2800" dirty="0">
                <a:latin typeface="Libre Baskerville"/>
                <a:ea typeface="Libre Baskerville"/>
                <a:cs typeface="Libre Baskerville"/>
                <a:sym typeface="Libre Baskerville"/>
              </a:rPr>
              <a:t>Environmental management to direct antifungal interventions (Zeaiter &amp; Myerscough, 2020)</a:t>
            </a:r>
          </a:p>
          <a:p>
            <a:pPr algn="l">
              <a:lnSpc>
                <a:spcPts val="5562"/>
              </a:lnSpc>
            </a:pPr>
            <a:endParaRPr lang="en-US" sz="2000" dirty="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5562"/>
              </a:lnSpc>
            </a:pPr>
            <a:r>
              <a:rPr lang="en-US" sz="2400" b="1" dirty="0">
                <a:latin typeface="Libre Baskerville"/>
                <a:ea typeface="Libre Baskerville"/>
                <a:cs typeface="Libre Baskerville"/>
                <a:sym typeface="Libre Baskerville"/>
              </a:rPr>
              <a:t>2. </a:t>
            </a:r>
            <a:r>
              <a:rPr lang="en-US" sz="2800" dirty="0">
                <a:latin typeface="Libre Baskerville"/>
                <a:ea typeface="Libre Baskerville"/>
                <a:cs typeface="Libre Baskerville"/>
                <a:sym typeface="Libre Baskerville"/>
              </a:rPr>
              <a:t>Materials insulation for hives (Floris et al., 2020)</a:t>
            </a:r>
          </a:p>
          <a:p>
            <a:pPr algn="l">
              <a:lnSpc>
                <a:spcPts val="5562"/>
              </a:lnSpc>
            </a:pPr>
            <a:endParaRPr lang="en-US" sz="2000" dirty="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5562"/>
              </a:lnSpc>
            </a:pPr>
            <a:r>
              <a:rPr lang="en-US" sz="2400" b="1" dirty="0">
                <a:latin typeface="Libre Baskerville"/>
                <a:ea typeface="Libre Baskerville"/>
                <a:cs typeface="Libre Baskerville"/>
                <a:sym typeface="Libre Baskerville"/>
              </a:rPr>
              <a:t>3. </a:t>
            </a:r>
            <a:r>
              <a:rPr lang="en-US" sz="2800" dirty="0">
                <a:latin typeface="Libre Baskerville"/>
                <a:ea typeface="Libre Baskerville"/>
                <a:cs typeface="Libre Baskerville"/>
                <a:sym typeface="Libre Baskerville"/>
              </a:rPr>
              <a:t>Manual checks and basic controls using antifungal sprays</a:t>
            </a:r>
          </a:p>
          <a:p>
            <a:pPr algn="l">
              <a:lnSpc>
                <a:spcPts val="5562"/>
              </a:lnSpc>
            </a:pPr>
            <a:endParaRPr lang="en-US" sz="1800" dirty="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C6D563-3C1F-A0E1-406B-FCC107D080D8}"/>
              </a:ext>
            </a:extLst>
          </p:cNvPr>
          <p:cNvSpPr txBox="1"/>
          <p:nvPr/>
        </p:nvSpPr>
        <p:spPr>
          <a:xfrm>
            <a:off x="17440677" y="9498818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1363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28593" y="1198099"/>
            <a:ext cx="5670649" cy="72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556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Objectives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928593" y="2653169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7" name="TextBox 7"/>
          <p:cNvSpPr txBox="1"/>
          <p:nvPr/>
        </p:nvSpPr>
        <p:spPr>
          <a:xfrm>
            <a:off x="967006" y="3502134"/>
            <a:ext cx="3756869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Sensor-Based Mold Prevention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8384" y="4541420"/>
            <a:ext cx="3756869" cy="13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latin typeface="Libre Baskerville" panose="02000000000000000000" pitchFamily="2" charset="0"/>
                <a:ea typeface="DM Sans"/>
                <a:cs typeface="DM Sans"/>
                <a:sym typeface="DM Sans"/>
              </a:rPr>
              <a:t>Prevent mold with sensor-based temperature and humidity control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5174308" y="2693456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L" dirty="0"/>
          </a:p>
        </p:txBody>
      </p:sp>
      <p:sp>
        <p:nvSpPr>
          <p:cNvPr id="10" name="TextBox 10"/>
          <p:cNvSpPr txBox="1"/>
          <p:nvPr/>
        </p:nvSpPr>
        <p:spPr>
          <a:xfrm>
            <a:off x="5174307" y="3525256"/>
            <a:ext cx="3562321" cy="855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Real-Time Monitoring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74308" y="4556538"/>
            <a:ext cx="3757018" cy="88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latin typeface="Libre Baskerville" panose="02000000000000000000" pitchFamily="2" charset="0"/>
                <a:ea typeface="DM Sans"/>
                <a:cs typeface="DM Sans"/>
                <a:sym typeface="DM Sans"/>
              </a:rPr>
              <a:t>IoT sensors for real-time hive monitoring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9144000" y="2637260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3" name="TextBox 13"/>
          <p:cNvSpPr txBox="1"/>
          <p:nvPr/>
        </p:nvSpPr>
        <p:spPr>
          <a:xfrm>
            <a:off x="9032760" y="3581500"/>
            <a:ext cx="3757018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Data-Driven Insights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32760" y="4318747"/>
            <a:ext cx="3757018" cy="180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latin typeface="Libre Baskerville" panose="02000000000000000000" pitchFamily="2" charset="0"/>
                <a:ea typeface="DM Sans"/>
                <a:cs typeface="DM Sans"/>
                <a:sym typeface="DM Sans"/>
              </a:rPr>
              <a:t>Provide beekeepers with actionable insights through data analysis and visualization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3879239" y="2736164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19"/>
                </a:lnTo>
                <a:lnTo>
                  <a:pt x="0" y="7087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6" name="TextBox 16"/>
          <p:cNvSpPr txBox="1"/>
          <p:nvPr/>
        </p:nvSpPr>
        <p:spPr>
          <a:xfrm>
            <a:off x="13803264" y="3475552"/>
            <a:ext cx="3757018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Colony Health Optimization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38443" y="4318747"/>
            <a:ext cx="3757018" cy="180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latin typeface="Libre Baskerville" panose="02000000000000000000" pitchFamily="2" charset="0"/>
                <a:ea typeface="DM Sans"/>
                <a:cs typeface="DM Sans"/>
                <a:sym typeface="DM Sans"/>
              </a:rPr>
              <a:t>Enhance colony health and productivity with predictive mold prevention strategies</a:t>
            </a:r>
          </a:p>
        </p:txBody>
      </p:sp>
      <p:pic>
        <p:nvPicPr>
          <p:cNvPr id="22" name="Picture 21" descr="A device connected to a device&#10;&#10;Description automatically generated">
            <a:extLst>
              <a:ext uri="{FF2B5EF4-FFF2-40B4-BE49-F238E27FC236}">
                <a16:creationId xmlns:a16="http://schemas.microsoft.com/office/drawing/2014/main" id="{8C9D961A-E58C-A427-3BA4-2232E9E60B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216080"/>
            <a:ext cx="7886792" cy="3930675"/>
          </a:xfrm>
          <a:prstGeom prst="rect">
            <a:avLst/>
          </a:prstGeom>
        </p:spPr>
      </p:pic>
      <p:pic>
        <p:nvPicPr>
          <p:cNvPr id="24" name="Picture 23" descr="A device with wires and a blue box&#10;&#10;Description automatically generated">
            <a:extLst>
              <a:ext uri="{FF2B5EF4-FFF2-40B4-BE49-F238E27FC236}">
                <a16:creationId xmlns:a16="http://schemas.microsoft.com/office/drawing/2014/main" id="{04A012A9-ECAD-C6D2-3B68-34D48A48D4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319" y="6431910"/>
            <a:ext cx="7271218" cy="37971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94DAF75-3E69-D160-D91B-FEDEC75AB4B2}"/>
              </a:ext>
            </a:extLst>
          </p:cNvPr>
          <p:cNvSpPr txBox="1"/>
          <p:nvPr/>
        </p:nvSpPr>
        <p:spPr>
          <a:xfrm>
            <a:off x="17440677" y="9498818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/>
          <p:cNvGrpSpPr/>
          <p:nvPr/>
        </p:nvGrpSpPr>
        <p:grpSpPr>
          <a:xfrm>
            <a:off x="0" y="-43205"/>
            <a:ext cx="18288000" cy="10373410"/>
            <a:chOff x="0" y="-2148145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-2148145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/>
            <a:lstStyle/>
            <a:p>
              <a:endParaRPr lang="en-IL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4821" y="621764"/>
            <a:ext cx="4016326" cy="849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WorkFlow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91B205-AF07-E8CF-3B64-9D2BF3C893E9}"/>
              </a:ext>
            </a:extLst>
          </p:cNvPr>
          <p:cNvSpPr txBox="1"/>
          <p:nvPr/>
        </p:nvSpPr>
        <p:spPr>
          <a:xfrm>
            <a:off x="17602200" y="9499208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6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16943B9-0766-38CD-EE36-C002DB9C4135}"/>
              </a:ext>
            </a:extLst>
          </p:cNvPr>
          <p:cNvSpPr/>
          <p:nvPr/>
        </p:nvSpPr>
        <p:spPr>
          <a:xfrm>
            <a:off x="464820" y="4152900"/>
            <a:ext cx="17594580" cy="281940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5DC190-0358-A7F5-1BC7-A76CFBD8F3E7}"/>
              </a:ext>
            </a:extLst>
          </p:cNvPr>
          <p:cNvSpPr/>
          <p:nvPr/>
        </p:nvSpPr>
        <p:spPr>
          <a:xfrm>
            <a:off x="1189892" y="4838700"/>
            <a:ext cx="1371600" cy="13716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8EBD38-76B6-EC61-AC8C-EC01B81DB996}"/>
              </a:ext>
            </a:extLst>
          </p:cNvPr>
          <p:cNvSpPr/>
          <p:nvPr/>
        </p:nvSpPr>
        <p:spPr>
          <a:xfrm>
            <a:off x="4481146" y="4889611"/>
            <a:ext cx="1371600" cy="13716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F47738-42B4-C503-17EF-63E1F6FB8BA3}"/>
              </a:ext>
            </a:extLst>
          </p:cNvPr>
          <p:cNvSpPr/>
          <p:nvPr/>
        </p:nvSpPr>
        <p:spPr>
          <a:xfrm>
            <a:off x="8014188" y="4862146"/>
            <a:ext cx="1371600" cy="13716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D07A77-5C96-7462-C01F-2D668B19F02E}"/>
              </a:ext>
            </a:extLst>
          </p:cNvPr>
          <p:cNvSpPr/>
          <p:nvPr/>
        </p:nvSpPr>
        <p:spPr>
          <a:xfrm>
            <a:off x="11799277" y="4862146"/>
            <a:ext cx="1371600" cy="13716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10D33E6-F85C-C8E7-3447-B80184CD128B}"/>
              </a:ext>
            </a:extLst>
          </p:cNvPr>
          <p:cNvSpPr/>
          <p:nvPr/>
        </p:nvSpPr>
        <p:spPr>
          <a:xfrm>
            <a:off x="15392400" y="4876800"/>
            <a:ext cx="1371600" cy="13716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A59486-0FA7-ED56-30F2-2E2C897D5189}"/>
              </a:ext>
            </a:extLst>
          </p:cNvPr>
          <p:cNvSpPr txBox="1"/>
          <p:nvPr/>
        </p:nvSpPr>
        <p:spPr>
          <a:xfrm>
            <a:off x="765810" y="2728977"/>
            <a:ext cx="3276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19.3.2025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Z</a:t>
            </a:r>
            <a:r>
              <a:rPr lang="en-IL" sz="2800" dirty="0"/>
              <a:t>oom meeting to discuss about the phase 2 steps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98286B-B329-2A8D-AE65-AD334C2A0B4E}"/>
              </a:ext>
            </a:extLst>
          </p:cNvPr>
          <p:cNvSpPr txBox="1"/>
          <p:nvPr/>
        </p:nvSpPr>
        <p:spPr>
          <a:xfrm>
            <a:off x="4114800" y="6667500"/>
            <a:ext cx="2514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21.4.2025</a:t>
            </a:r>
            <a:br>
              <a:rPr lang="en-IL" sz="2800" dirty="0"/>
            </a:br>
            <a:r>
              <a:rPr lang="en-IL" sz="2800" dirty="0"/>
              <a:t>Preparing all the logistics and sensors that we will use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4AED52-B08A-6235-3699-788308FE2E9A}"/>
              </a:ext>
            </a:extLst>
          </p:cNvPr>
          <p:cNvSpPr txBox="1"/>
          <p:nvPr/>
        </p:nvSpPr>
        <p:spPr>
          <a:xfrm>
            <a:off x="6896100" y="2794725"/>
            <a:ext cx="3429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25.6.2025</a:t>
            </a:r>
            <a:br>
              <a:rPr lang="en-IL" sz="2800" dirty="0"/>
            </a:br>
            <a:r>
              <a:rPr lang="en-IL" sz="2800" dirty="0"/>
              <a:t>Building the website with all the integrations needed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623E21-0D6B-80AE-5AD0-D62FC0D56551}"/>
              </a:ext>
            </a:extLst>
          </p:cNvPr>
          <p:cNvSpPr txBox="1"/>
          <p:nvPr/>
        </p:nvSpPr>
        <p:spPr>
          <a:xfrm>
            <a:off x="11353800" y="6548103"/>
            <a:ext cx="29893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29.6.2025</a:t>
            </a:r>
            <a:endParaRPr lang="en-IL" sz="2800" dirty="0"/>
          </a:p>
          <a:p>
            <a:r>
              <a:rPr lang="en-IL" sz="2800" dirty="0"/>
              <a:t>Testing the whole system functionalities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BD6EE8-1E1B-C2FE-2A0C-6C4F0487D1C0}"/>
              </a:ext>
            </a:extLst>
          </p:cNvPr>
          <p:cNvSpPr txBox="1"/>
          <p:nvPr/>
        </p:nvSpPr>
        <p:spPr>
          <a:xfrm>
            <a:off x="14501446" y="2199114"/>
            <a:ext cx="3429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1.7.2025</a:t>
            </a:r>
            <a:br>
              <a:rPr lang="en-IL" sz="2800" dirty="0"/>
            </a:br>
            <a:r>
              <a:rPr lang="en-IL" sz="2800" dirty="0"/>
              <a:t>Production and Getting beekeepers reviews on the system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2AEAAB-33A7-3887-6C13-5CB5C8374E2B}"/>
              </a:ext>
            </a:extLst>
          </p:cNvPr>
          <p:cNvSpPr/>
          <p:nvPr/>
        </p:nvSpPr>
        <p:spPr>
          <a:xfrm>
            <a:off x="765810" y="2728977"/>
            <a:ext cx="2739390" cy="18816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41E7BC-401B-88AB-625A-E604C0E9C37D}"/>
              </a:ext>
            </a:extLst>
          </p:cNvPr>
          <p:cNvSpPr/>
          <p:nvPr/>
        </p:nvSpPr>
        <p:spPr>
          <a:xfrm>
            <a:off x="4051056" y="6709101"/>
            <a:ext cx="2578344" cy="2167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EB2A27-9667-4B0C-F445-90C91A102D0E}"/>
              </a:ext>
            </a:extLst>
          </p:cNvPr>
          <p:cNvSpPr/>
          <p:nvPr/>
        </p:nvSpPr>
        <p:spPr>
          <a:xfrm>
            <a:off x="6931268" y="2794725"/>
            <a:ext cx="3127131" cy="19416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9A66CD-4CAD-A166-B2D9-69F850F15780}"/>
              </a:ext>
            </a:extLst>
          </p:cNvPr>
          <p:cNvSpPr/>
          <p:nvPr/>
        </p:nvSpPr>
        <p:spPr>
          <a:xfrm>
            <a:off x="11353801" y="6548103"/>
            <a:ext cx="2819400" cy="19416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7EE40C-F9CF-881A-6409-83EAA1D14546}"/>
              </a:ext>
            </a:extLst>
          </p:cNvPr>
          <p:cNvSpPr/>
          <p:nvPr/>
        </p:nvSpPr>
        <p:spPr>
          <a:xfrm>
            <a:off x="14501446" y="2136229"/>
            <a:ext cx="3429000" cy="1878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724990"/>
            <a:ext cx="5670649" cy="72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556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51668-FDF5-84C9-3842-5F720D20FB63}"/>
              </a:ext>
            </a:extLst>
          </p:cNvPr>
          <p:cNvSpPr txBox="1"/>
          <p:nvPr/>
        </p:nvSpPr>
        <p:spPr>
          <a:xfrm>
            <a:off x="17440677" y="9498818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7</a:t>
            </a:r>
          </a:p>
        </p:txBody>
      </p:sp>
      <p:pic>
        <p:nvPicPr>
          <p:cNvPr id="11" name="Graphic 10" descr="Tablet with solid fill">
            <a:extLst>
              <a:ext uri="{FF2B5EF4-FFF2-40B4-BE49-F238E27FC236}">
                <a16:creationId xmlns:a16="http://schemas.microsoft.com/office/drawing/2014/main" id="{2A77BD17-8A22-13DD-9037-F3FC63138D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53731" y="-855812"/>
            <a:ext cx="5034678" cy="40996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6AB2C2-FD60-3C85-26FE-B7BE9C379F1D}"/>
              </a:ext>
            </a:extLst>
          </p:cNvPr>
          <p:cNvSpPr txBox="1"/>
          <p:nvPr/>
        </p:nvSpPr>
        <p:spPr>
          <a:xfrm>
            <a:off x="16128275" y="830651"/>
            <a:ext cx="2276877" cy="947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>
                <a:latin typeface="Libre Baskerville" panose="02000000000000000000" pitchFamily="2" charset="0"/>
              </a:rPr>
              <a:t>System Access From Everywhere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388FD05-64F5-5B85-1BC2-E4A9B06FECD4}"/>
                  </a:ext>
                </a:extLst>
              </p14:cNvPr>
              <p14:cNvContentPartPr/>
              <p14:nvPr/>
            </p14:nvContentPartPr>
            <p14:xfrm>
              <a:off x="2650098" y="144972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388FD05-64F5-5B85-1BC2-E4A9B06FEC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14098" y="1378080"/>
                <a:ext cx="72000" cy="144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 descr="A screenshot of a website&#10;&#10;AI-generated content may be incorrect.">
            <a:extLst>
              <a:ext uri="{FF2B5EF4-FFF2-40B4-BE49-F238E27FC236}">
                <a16:creationId xmlns:a16="http://schemas.microsoft.com/office/drawing/2014/main" id="{8F204954-B437-B23A-A0C0-7E610A5168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7959" y="232173"/>
            <a:ext cx="3726221" cy="1923686"/>
          </a:xfrm>
          <a:prstGeom prst="rect">
            <a:avLst/>
          </a:prstGeom>
        </p:spPr>
      </p:pic>
      <p:pic>
        <p:nvPicPr>
          <p:cNvPr id="17" name="Picture 16" descr="A diagram of a device&#10;&#10;AI-generated content may be incorrect.">
            <a:extLst>
              <a:ext uri="{FF2B5EF4-FFF2-40B4-BE49-F238E27FC236}">
                <a16:creationId xmlns:a16="http://schemas.microsoft.com/office/drawing/2014/main" id="{14554B67-D5EF-A7C0-16EC-1F2746647E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502754"/>
            <a:ext cx="17169684" cy="7714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1F3CE461-7115-FE2D-32DD-D0432197B96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</p:spPr>
        <p:txBody>
          <a:bodyPr/>
          <a:lstStyle/>
          <a:p>
            <a:pPr algn="l">
              <a:lnSpc>
                <a:spcPts val="5562"/>
              </a:lnSpc>
            </a:pPr>
            <a:endParaRPr lang="en-US" sz="4400" dirty="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5562"/>
              </a:lnSpc>
            </a:pPr>
            <a:r>
              <a:rPr lang="en-US" sz="440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</a:t>
            </a:r>
          </a:p>
          <a:p>
            <a:pPr algn="l">
              <a:lnSpc>
                <a:spcPts val="5562"/>
              </a:lnSpc>
            </a:pPr>
            <a:endParaRPr lang="en-US" sz="4400" dirty="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6657F3D5-0EE7-8A68-E8E6-C73367039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3583" y="0"/>
            <a:ext cx="6212418" cy="10177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F8B270-BEF0-3B8C-62ED-FB3CA542394C}"/>
              </a:ext>
            </a:extLst>
          </p:cNvPr>
          <p:cNvSpPr txBox="1"/>
          <p:nvPr/>
        </p:nvSpPr>
        <p:spPr>
          <a:xfrm>
            <a:off x="1045634" y="4305300"/>
            <a:ext cx="9372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Threshold-based logic reacts to hive changes in real time.</a:t>
            </a:r>
          </a:p>
          <a:p>
            <a:endParaRPr lang="en-US" sz="3600" dirty="0"/>
          </a:p>
          <a:p>
            <a:r>
              <a:rPr lang="en-US" sz="3600" dirty="0"/>
              <a:t>Optimal range: 28–35 °C and 50–60% humidity.</a:t>
            </a:r>
          </a:p>
          <a:p>
            <a:endParaRPr lang="en-US" sz="3600" dirty="0"/>
          </a:p>
          <a:p>
            <a:r>
              <a:rPr lang="en-US" sz="3600" dirty="0"/>
              <a:t>Sensors send data via MQTT topics.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B3953-5384-CE69-C3DB-A3ACFF824563}"/>
              </a:ext>
            </a:extLst>
          </p:cNvPr>
          <p:cNvSpPr txBox="1"/>
          <p:nvPr/>
        </p:nvSpPr>
        <p:spPr>
          <a:xfrm>
            <a:off x="1062567" y="1866900"/>
            <a:ext cx="396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Flow Chart</a:t>
            </a:r>
            <a:endParaRPr lang="en-IL" sz="4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7774EF-B57C-22B2-A2F5-7FEAE12EE6DD}"/>
              </a:ext>
            </a:extLst>
          </p:cNvPr>
          <p:cNvCxnSpPr>
            <a:cxnSpLocks/>
          </p:cNvCxnSpPr>
          <p:nvPr/>
        </p:nvCxnSpPr>
        <p:spPr>
          <a:xfrm>
            <a:off x="10435167" y="0"/>
            <a:ext cx="0" cy="10287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67B11B0-165F-45E2-5AE8-45D90A07D906}"/>
              </a:ext>
            </a:extLst>
          </p:cNvPr>
          <p:cNvSpPr txBox="1"/>
          <p:nvPr/>
        </p:nvSpPr>
        <p:spPr>
          <a:xfrm>
            <a:off x="17526001" y="9510893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80794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FC7CD9-3753-2EDE-7916-AB9546559B6F}"/>
              </a:ext>
            </a:extLst>
          </p:cNvPr>
          <p:cNvSpPr txBox="1"/>
          <p:nvPr/>
        </p:nvSpPr>
        <p:spPr>
          <a:xfrm>
            <a:off x="17440677" y="9498818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4EB33C-0F67-A919-392E-DCBFB4025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632279"/>
              </p:ext>
            </p:extLst>
          </p:nvPr>
        </p:nvGraphicFramePr>
        <p:xfrm>
          <a:off x="1524000" y="1866900"/>
          <a:ext cx="15049500" cy="73914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524750">
                  <a:extLst>
                    <a:ext uri="{9D8B030D-6E8A-4147-A177-3AD203B41FA5}">
                      <a16:colId xmlns:a16="http://schemas.microsoft.com/office/drawing/2014/main" val="153533422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3677789530"/>
                    </a:ext>
                  </a:extLst>
                </a:gridCol>
              </a:tblGrid>
              <a:tr h="1624262">
                <a:tc>
                  <a:txBody>
                    <a:bodyPr/>
                    <a:lstStyle/>
                    <a:p>
                      <a:pPr algn="ctr"/>
                      <a:endParaRPr lang="en-IL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2800" dirty="0">
                          <a:solidFill>
                            <a:srgbClr val="5C4E3D"/>
                          </a:solidFill>
                          <a:latin typeface="Libre Baskerville" panose="02000000000000000000" pitchFamily="2" charset="0"/>
                        </a:rPr>
                        <a:t>Functioal Testing</a:t>
                      </a:r>
                    </a:p>
                    <a:p>
                      <a:pPr algn="ctr"/>
                      <a:endParaRPr lang="en-IL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  <a:p>
                      <a:pPr algn="ctr"/>
                      <a:endParaRPr lang="en-IL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2800">
                          <a:solidFill>
                            <a:srgbClr val="5C4E3D"/>
                          </a:solidFill>
                          <a:latin typeface="Libre Baskerville" panose="02000000000000000000" pitchFamily="2" charset="0"/>
                        </a:rPr>
                        <a:t>Non-Functioal Testing</a:t>
                      </a:r>
                    </a:p>
                    <a:p>
                      <a:pPr algn="ctr"/>
                      <a:endParaRPr lang="en-IL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355375"/>
                  </a:ext>
                </a:extLst>
              </a:tr>
              <a:tr h="1681392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Libre Baskerville" panose="02000000000000000000" pitchFamily="2" charset="0"/>
                        </a:rPr>
                        <a:t>Login &amp; Registration:</a:t>
                      </a:r>
                    </a:p>
                    <a:p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Login errors show correct messages</a:t>
                      </a:r>
                    </a:p>
                    <a:p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Successful login/sign-up works</a:t>
                      </a:r>
                    </a:p>
                    <a:p>
                      <a:endParaRPr lang="en-IL" sz="24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Libre Baskerville" panose="02000000000000000000" pitchFamily="2" charset="0"/>
                        </a:rPr>
                        <a:t>Recovery Tests:</a:t>
                      </a:r>
                      <a:br>
                        <a:rPr lang="en-US" sz="2400" dirty="0">
                          <a:latin typeface="Libre Baskerville" panose="02000000000000000000" pitchFamily="2" charset="0"/>
                        </a:rPr>
                      </a:br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Data remained saved after sudden shutdowns, logouts, or crashes.</a:t>
                      </a:r>
                      <a:endParaRPr lang="en-IL" sz="24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709945"/>
                  </a:ext>
                </a:extLst>
              </a:tr>
              <a:tr h="2079305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Libre Baskerville" panose="02000000000000000000" pitchFamily="2" charset="0"/>
                        </a:rPr>
                        <a:t>Beehive Management:</a:t>
                      </a:r>
                    </a:p>
                    <a:p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Hives can be added and managed</a:t>
                      </a:r>
                    </a:p>
                    <a:p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No sensor → system warns “No data received”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Libre Baskerville" panose="02000000000000000000" pitchFamily="2" charset="0"/>
                        </a:rPr>
                        <a:t>Reliability Tests:</a:t>
                      </a:r>
                      <a:br>
                        <a:rPr lang="en-US" sz="2400" dirty="0">
                          <a:latin typeface="Libre Baskerville" panose="02000000000000000000" pitchFamily="2" charset="0"/>
                        </a:rPr>
                      </a:br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System handled missing/corrupted sensor data without crashing.</a:t>
                      </a:r>
                      <a:endParaRPr lang="en-IL" sz="24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88400"/>
                  </a:ext>
                </a:extLst>
              </a:tr>
              <a:tr h="2006441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Libre Baskerville" panose="02000000000000000000" pitchFamily="2" charset="0"/>
                        </a:rPr>
                        <a:t>Hive Details Page:</a:t>
                      </a:r>
                    </a:p>
                    <a:p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Real-time data updates correctly</a:t>
                      </a:r>
                    </a:p>
                    <a:p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Air pump logs are saved</a:t>
                      </a:r>
                    </a:p>
                    <a:p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PDF reports sent to Telegram</a:t>
                      </a:r>
                    </a:p>
                    <a:p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Historical graphs display past data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Libre Baskerville" panose="02000000000000000000" pitchFamily="2" charset="0"/>
                        </a:rPr>
                        <a:t>Performance Tests:</a:t>
                      </a:r>
                      <a:br>
                        <a:rPr lang="en-US" sz="2400" dirty="0">
                          <a:latin typeface="Libre Baskerville" panose="02000000000000000000" pitchFamily="2" charset="0"/>
                        </a:rPr>
                      </a:br>
                      <a:r>
                        <a:rPr lang="en-US" sz="2400" dirty="0">
                          <a:latin typeface="Libre Baskerville" panose="02000000000000000000" pitchFamily="2" charset="0"/>
                        </a:rPr>
                        <a:t>Data updated in real time via MQTT with no noticeable delays.</a:t>
                      </a:r>
                    </a:p>
                    <a:p>
                      <a:endParaRPr lang="en-IL" sz="24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725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7DC9691-05AE-6CF7-7195-DF1C0EDAC3CA}"/>
              </a:ext>
            </a:extLst>
          </p:cNvPr>
          <p:cNvSpPr txBox="1"/>
          <p:nvPr/>
        </p:nvSpPr>
        <p:spPr>
          <a:xfrm>
            <a:off x="7086600" y="526529"/>
            <a:ext cx="5562600" cy="94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5560" b="1" dirty="0">
                <a:solidFill>
                  <a:srgbClr val="5C4E3D"/>
                </a:solidFill>
                <a:latin typeface="Libre Baskerville" panose="02000000000000000000" pitchFamily="2" charset="0"/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821832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/>
          <p:cNvGrpSpPr/>
          <p:nvPr/>
        </p:nvGrpSpPr>
        <p:grpSpPr>
          <a:xfrm>
            <a:off x="-64476" y="0"/>
            <a:ext cx="18352476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/>
            <a:lstStyle/>
            <a:p>
              <a:endParaRPr lang="en-IL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6386" y="889493"/>
            <a:ext cx="16640014" cy="1405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556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Functional &amp; Non-Functional Requirements</a:t>
            </a:r>
          </a:p>
          <a:p>
            <a:pPr algn="l">
              <a:lnSpc>
                <a:spcPts val="5562"/>
              </a:lnSpc>
            </a:pPr>
            <a:r>
              <a:rPr lang="en-US" sz="4437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5568FF-7743-1774-44E1-148A4F7F61C3}"/>
              </a:ext>
            </a:extLst>
          </p:cNvPr>
          <p:cNvSpPr txBox="1"/>
          <p:nvPr/>
        </p:nvSpPr>
        <p:spPr>
          <a:xfrm>
            <a:off x="17326738" y="9502950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10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DB9101-C9D9-9001-B551-BEB86FD7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416775"/>
              </p:ext>
            </p:extLst>
          </p:nvPr>
        </p:nvGraphicFramePr>
        <p:xfrm>
          <a:off x="56909" y="2776538"/>
          <a:ext cx="9401014" cy="55626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86951">
                  <a:extLst>
                    <a:ext uri="{9D8B030D-6E8A-4147-A177-3AD203B41FA5}">
                      <a16:colId xmlns:a16="http://schemas.microsoft.com/office/drawing/2014/main" val="2945900928"/>
                    </a:ext>
                  </a:extLst>
                </a:gridCol>
                <a:gridCol w="8514063">
                  <a:extLst>
                    <a:ext uri="{9D8B030D-6E8A-4147-A177-3AD203B41FA5}">
                      <a16:colId xmlns:a16="http://schemas.microsoft.com/office/drawing/2014/main" val="2085479043"/>
                    </a:ext>
                  </a:extLst>
                </a:gridCol>
              </a:tblGrid>
              <a:tr h="989951"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No.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Requirement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699706"/>
                  </a:ext>
                </a:extLst>
              </a:tr>
              <a:tr h="1059857"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The system </a:t>
                      </a:r>
                      <a:r>
                        <a:rPr lang="en-US" sz="2000" b="1" dirty="0">
                          <a:latin typeface="Libre Baskerville" panose="02000000000000000000" pitchFamily="2" charset="0"/>
                        </a:rPr>
                        <a:t>provides recommendations</a:t>
                      </a:r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 for maintaining optimal hive conditions and preventing mold growth.</a:t>
                      </a:r>
                      <a:endParaRPr lang="en-IL" sz="20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16415"/>
                  </a:ext>
                </a:extLst>
              </a:tr>
              <a:tr h="1393078"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The system </a:t>
                      </a:r>
                      <a:r>
                        <a:rPr lang="en-US" sz="2000" b="1" dirty="0">
                          <a:latin typeface="Libre Baskerville" panose="02000000000000000000" pitchFamily="2" charset="0"/>
                        </a:rPr>
                        <a:t>generates alerts</a:t>
                      </a:r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 when environmental conditions exceed predefined thresholds for mold risk.</a:t>
                      </a:r>
                      <a:endParaRPr lang="en-IL" sz="20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472226"/>
                  </a:ext>
                </a:extLst>
              </a:tr>
              <a:tr h="1059857"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The system </a:t>
                      </a:r>
                      <a:r>
                        <a:rPr lang="en-US" sz="2000" b="1" dirty="0">
                          <a:latin typeface="Libre Baskerville" panose="02000000000000000000" pitchFamily="2" charset="0"/>
                        </a:rPr>
                        <a:t>offers a real-time data dashboard</a:t>
                      </a:r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 for beekeepers to view live sensor readings.</a:t>
                      </a:r>
                    </a:p>
                    <a:p>
                      <a:endParaRPr lang="en-IL" sz="20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330706"/>
                  </a:ext>
                </a:extLst>
              </a:tr>
              <a:tr h="1059857"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The system </a:t>
                      </a:r>
                      <a:r>
                        <a:rPr lang="en-US" sz="2000" b="1" dirty="0">
                          <a:latin typeface="Libre Baskerville" panose="02000000000000000000" pitchFamily="2" charset="0"/>
                        </a:rPr>
                        <a:t>allows users to generate PDF reports</a:t>
                      </a:r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 of hive conditions</a:t>
                      </a:r>
                      <a:endParaRPr lang="en-IL" sz="20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7239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32ACC3-69B9-D5E1-B942-355222E98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872993"/>
              </p:ext>
            </p:extLst>
          </p:nvPr>
        </p:nvGraphicFramePr>
        <p:xfrm>
          <a:off x="9753600" y="2776539"/>
          <a:ext cx="8477491" cy="551824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43595">
                  <a:extLst>
                    <a:ext uri="{9D8B030D-6E8A-4147-A177-3AD203B41FA5}">
                      <a16:colId xmlns:a16="http://schemas.microsoft.com/office/drawing/2014/main" val="2945900928"/>
                    </a:ext>
                  </a:extLst>
                </a:gridCol>
                <a:gridCol w="5814201">
                  <a:extLst>
                    <a:ext uri="{9D8B030D-6E8A-4147-A177-3AD203B41FA5}">
                      <a16:colId xmlns:a16="http://schemas.microsoft.com/office/drawing/2014/main" val="2085479043"/>
                    </a:ext>
                  </a:extLst>
                </a:gridCol>
                <a:gridCol w="1819695">
                  <a:extLst>
                    <a:ext uri="{9D8B030D-6E8A-4147-A177-3AD203B41FA5}">
                      <a16:colId xmlns:a16="http://schemas.microsoft.com/office/drawing/2014/main" val="3498356233"/>
                    </a:ext>
                  </a:extLst>
                </a:gridCol>
              </a:tblGrid>
              <a:tr h="639548"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No.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Requirement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Type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699706"/>
                  </a:ext>
                </a:extLst>
              </a:tr>
              <a:tr h="1556376"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The system interface </a:t>
                      </a:r>
                      <a:r>
                        <a:rPr lang="en-US" sz="2000" b="1" dirty="0">
                          <a:latin typeface="Libre Baskerville" panose="02000000000000000000" pitchFamily="2" charset="0"/>
                        </a:rPr>
                        <a:t>is user-friendly</a:t>
                      </a:r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, allowing beekeepers to easily access data, manage hives, and generate reports with minimal training.</a:t>
                      </a:r>
                      <a:endParaRPr lang="en-IL" sz="20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L" sz="19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Usability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16415"/>
                  </a:ext>
                </a:extLst>
              </a:tr>
              <a:tr h="978158"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The system </a:t>
                      </a:r>
                      <a:r>
                        <a:rPr lang="en-US" sz="2000" b="1" dirty="0">
                          <a:latin typeface="Libre Baskerville" panose="02000000000000000000" pitchFamily="2" charset="0"/>
                        </a:rPr>
                        <a:t>processes sensor data in real time</a:t>
                      </a:r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 and triggers alerts within a few seconds of detecting abnormal conditions.</a:t>
                      </a:r>
                      <a:endParaRPr lang="en-IL" sz="20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L" sz="19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Efficiency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472226"/>
                  </a:ext>
                </a:extLst>
              </a:tr>
              <a:tr h="1262720"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The system </a:t>
                      </a:r>
                      <a:r>
                        <a:rPr lang="en-US" sz="2000" b="1" dirty="0">
                          <a:latin typeface="Libre Baskerville" panose="02000000000000000000" pitchFamily="2" charset="0"/>
                        </a:rPr>
                        <a:t>was built with modular architecture</a:t>
                      </a:r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, enabling independent development, testing, and integration of components.</a:t>
                      </a:r>
                      <a:endParaRPr lang="en-IL" sz="20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L" sz="19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Modularity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330706"/>
                  </a:ext>
                </a:extLst>
              </a:tr>
              <a:tr h="978158">
                <a:tc>
                  <a:txBody>
                    <a:bodyPr/>
                    <a:lstStyle/>
                    <a:p>
                      <a:r>
                        <a:rPr lang="en-IL" sz="20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The system </a:t>
                      </a:r>
                      <a:r>
                        <a:rPr lang="en-US" sz="2000" b="1" dirty="0">
                          <a:latin typeface="Libre Baskerville" panose="02000000000000000000" pitchFamily="2" charset="0"/>
                        </a:rPr>
                        <a:t>handles large volumes of sensor data reliably</a:t>
                      </a:r>
                      <a:r>
                        <a:rPr lang="en-US" sz="2000" dirty="0">
                          <a:latin typeface="Libre Baskerville" panose="02000000000000000000" pitchFamily="2" charset="0"/>
                        </a:rPr>
                        <a:t> and maintains fast response times</a:t>
                      </a:r>
                      <a:endParaRPr lang="en-IL" sz="2000" dirty="0">
                        <a:solidFill>
                          <a:schemeClr val="tx1"/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L" sz="1900" dirty="0">
                          <a:solidFill>
                            <a:schemeClr val="tx1"/>
                          </a:solidFill>
                          <a:latin typeface="Libre Baskerville" panose="02000000000000000000" pitchFamily="2" charset="0"/>
                        </a:rPr>
                        <a:t>Performance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7239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78CD3E7-7563-3D73-703A-332EB282E35D}"/>
              </a:ext>
            </a:extLst>
          </p:cNvPr>
          <p:cNvSpPr txBox="1"/>
          <p:nvPr/>
        </p:nvSpPr>
        <p:spPr>
          <a:xfrm>
            <a:off x="0" y="2245870"/>
            <a:ext cx="829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400" b="1" dirty="0">
                <a:solidFill>
                  <a:srgbClr val="5C4E3D"/>
                </a:solidFill>
                <a:latin typeface="Libre Baskerville" panose="02000000000000000000" pitchFamily="2" charset="0"/>
              </a:rPr>
              <a:t>FR: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4318BF-365D-579E-9D13-E0CD8D5C9AC0}"/>
              </a:ext>
            </a:extLst>
          </p:cNvPr>
          <p:cNvSpPr txBox="1"/>
          <p:nvPr/>
        </p:nvSpPr>
        <p:spPr>
          <a:xfrm>
            <a:off x="9639491" y="2251598"/>
            <a:ext cx="1212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400" b="1" dirty="0">
                <a:solidFill>
                  <a:srgbClr val="5C4E3D"/>
                </a:solidFill>
                <a:latin typeface="Libre Baskerville" panose="02000000000000000000" pitchFamily="2" charset="0"/>
              </a:rPr>
              <a:t>NFR: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/>
          <p:cNvGrpSpPr/>
          <p:nvPr/>
        </p:nvGrpSpPr>
        <p:grpSpPr>
          <a:xfrm>
            <a:off x="0" y="-24916"/>
            <a:ext cx="18565819" cy="10591056"/>
            <a:chOff x="-32908" y="49808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-32908" y="49808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/>
            <a:lstStyle/>
            <a:p>
              <a:endParaRPr lang="en-IL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95401" y="1550867"/>
            <a:ext cx="4038600" cy="849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Challenges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87475" y="3199656"/>
            <a:ext cx="16313051" cy="5340549"/>
            <a:chOff x="0" y="0"/>
            <a:chExt cx="21750735" cy="71207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50782" cy="7120636"/>
            </a:xfrm>
            <a:custGeom>
              <a:avLst/>
              <a:gdLst/>
              <a:ahLst/>
              <a:cxnLst/>
              <a:rect l="l" t="t" r="r" b="b"/>
              <a:pathLst>
                <a:path w="21750782" h="7120636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428" y="0"/>
                  </a:lnTo>
                  <a:lnTo>
                    <a:pt x="21585428" y="6350"/>
                  </a:lnTo>
                  <a:lnTo>
                    <a:pt x="21585428" y="0"/>
                  </a:lnTo>
                  <a:cubicBezTo>
                    <a:pt x="21676742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6955536"/>
                  </a:lnTo>
                  <a:lnTo>
                    <a:pt x="21744432" y="6955536"/>
                  </a:lnTo>
                  <a:lnTo>
                    <a:pt x="21750782" y="6955536"/>
                  </a:lnTo>
                  <a:cubicBezTo>
                    <a:pt x="21750782" y="7046722"/>
                    <a:pt x="21676742" y="7120636"/>
                    <a:pt x="21585428" y="7120636"/>
                  </a:cubicBezTo>
                  <a:lnTo>
                    <a:pt x="21585428" y="7114286"/>
                  </a:lnTo>
                  <a:lnTo>
                    <a:pt x="21585428" y="7120636"/>
                  </a:lnTo>
                  <a:lnTo>
                    <a:pt x="165354" y="7120636"/>
                  </a:lnTo>
                  <a:lnTo>
                    <a:pt x="165354" y="7114286"/>
                  </a:lnTo>
                  <a:lnTo>
                    <a:pt x="165354" y="7120636"/>
                  </a:lnTo>
                  <a:cubicBezTo>
                    <a:pt x="74041" y="7120636"/>
                    <a:pt x="0" y="7046722"/>
                    <a:pt x="0" y="695553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55536"/>
                  </a:lnTo>
                  <a:lnTo>
                    <a:pt x="6350" y="6955536"/>
                  </a:lnTo>
                  <a:lnTo>
                    <a:pt x="12700" y="6955536"/>
                  </a:lnTo>
                  <a:cubicBezTo>
                    <a:pt x="12700" y="7039737"/>
                    <a:pt x="81026" y="7107936"/>
                    <a:pt x="165354" y="7107936"/>
                  </a:cubicBezTo>
                  <a:lnTo>
                    <a:pt x="21585428" y="7107936"/>
                  </a:lnTo>
                  <a:cubicBezTo>
                    <a:pt x="21669756" y="7107936"/>
                    <a:pt x="21738082" y="7039737"/>
                    <a:pt x="21738082" y="6955536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7160" y="4457748"/>
            <a:ext cx="16284476" cy="812899"/>
            <a:chOff x="0" y="0"/>
            <a:chExt cx="21712635" cy="10838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46737" y="3369803"/>
            <a:ext cx="12943731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Libre Baskerville" panose="02000000000000000000" pitchFamily="2" charset="0"/>
              </a:rPr>
              <a:t>Hardware integration of sensors, pump, M5Stack, solar, and battery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dirty="0">
              <a:latin typeface="Libre Baskerville" panose="020000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Libre Baskerville" panose="02000000000000000000" pitchFamily="2" charset="0"/>
              </a:rPr>
              <a:t>Reliable real-time data transmission with MQTT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dirty="0">
              <a:latin typeface="Libre Baskerville" panose="020000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Libre Baskerville" panose="02000000000000000000" pitchFamily="2" charset="0"/>
              </a:rPr>
              <a:t>Learning and debugging logic in flow.m5stack.com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76365" y="6344295"/>
            <a:ext cx="16284511" cy="1436656"/>
            <a:chOff x="99471" y="90553"/>
            <a:chExt cx="21712682" cy="1915541"/>
          </a:xfrm>
        </p:grpSpPr>
        <p:sp>
          <p:nvSpPr>
            <p:cNvPr id="21" name="Freeform 21"/>
            <p:cNvSpPr/>
            <p:nvPr/>
          </p:nvSpPr>
          <p:spPr>
            <a:xfrm>
              <a:off x="99471" y="90553"/>
              <a:ext cx="21712682" cy="1915541"/>
            </a:xfrm>
            <a:custGeom>
              <a:avLst/>
              <a:gdLst/>
              <a:ahLst/>
              <a:cxnLst/>
              <a:rect l="l" t="t" r="r" b="b"/>
              <a:pathLst>
                <a:path w="21712682" h="1915541">
                  <a:moveTo>
                    <a:pt x="0" y="0"/>
                  </a:moveTo>
                  <a:lnTo>
                    <a:pt x="21712682" y="0"/>
                  </a:lnTo>
                  <a:lnTo>
                    <a:pt x="21712682" y="1915541"/>
                  </a:lnTo>
                  <a:lnTo>
                    <a:pt x="0" y="19155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L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73BDB21-604E-1569-A2F0-6412F90ACC1C}"/>
              </a:ext>
            </a:extLst>
          </p:cNvPr>
          <p:cNvSpPr txBox="1"/>
          <p:nvPr/>
        </p:nvSpPr>
        <p:spPr>
          <a:xfrm>
            <a:off x="17440677" y="9498818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11</a:t>
            </a:r>
          </a:p>
        </p:txBody>
      </p:sp>
      <p:pic>
        <p:nvPicPr>
          <p:cNvPr id="9" name="Graphic 8" descr="Hurdle with solid fill">
            <a:extLst>
              <a:ext uri="{FF2B5EF4-FFF2-40B4-BE49-F238E27FC236}">
                <a16:creationId xmlns:a16="http://schemas.microsoft.com/office/drawing/2014/main" id="{A4FD0BCB-DEF7-1E86-99B8-A4F190471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500" y="1500329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F9EF95-EF48-3536-6690-17D715AF50CD}"/>
              </a:ext>
            </a:extLst>
          </p:cNvPr>
          <p:cNvSpPr txBox="1"/>
          <p:nvPr/>
        </p:nvSpPr>
        <p:spPr>
          <a:xfrm>
            <a:off x="4572000" y="4686068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venir" panose="02000503020000020003" pitchFamily="2" charset="0"/>
              </a:rPr>
              <a:t>Users Evaluation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IL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7A253CA-94D6-B4F6-1CDA-90F3DC998AAC}"/>
              </a:ext>
            </a:extLst>
          </p:cNvPr>
          <p:cNvSpPr/>
          <p:nvPr/>
        </p:nvSpPr>
        <p:spPr>
          <a:xfrm>
            <a:off x="0" y="-152028"/>
            <a:ext cx="18565819" cy="10591056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</p:spPr>
        <p:txBody>
          <a:bodyPr/>
          <a:lstStyle/>
          <a:p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32D44-9D9A-30C7-CFB8-7C2023AFD4AE}"/>
              </a:ext>
            </a:extLst>
          </p:cNvPr>
          <p:cNvSpPr txBox="1"/>
          <p:nvPr/>
        </p:nvSpPr>
        <p:spPr>
          <a:xfrm>
            <a:off x="685800" y="-4233"/>
            <a:ext cx="7239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540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 sz="540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SUS Questionnaire:</a:t>
            </a:r>
            <a:endParaRPr lang="en-IL" sz="5400" dirty="0">
              <a:latin typeface="Libre Baskerville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28C91-86D5-1E54-8440-4FF11C17B840}"/>
              </a:ext>
            </a:extLst>
          </p:cNvPr>
          <p:cNvSpPr txBox="1"/>
          <p:nvPr/>
        </p:nvSpPr>
        <p:spPr>
          <a:xfrm>
            <a:off x="668866" y="2017847"/>
            <a:ext cx="12801600" cy="600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Libre Baskerville" panose="02000000000000000000" pitchFamily="2" charset="0"/>
              </a:rPr>
              <a:t>Users showed high satisfaction, with a strong SUS score The system saves time by reducing physical inspections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Libre Baskerville" panose="02000000000000000000" pitchFamily="2" charset="0"/>
              </a:rPr>
              <a:t>The interface is intuitive and works smoothly on desktop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Libre Baskerville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Libre Baskerville" panose="02000000000000000000" pitchFamily="2" charset="0"/>
              </a:rPr>
              <a:t>Improvements: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600" dirty="0">
                <a:latin typeface="Libre Baskerville" panose="02000000000000000000" pitchFamily="2" charset="0"/>
              </a:rPr>
              <a:t> Better mobile chart visibility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600" dirty="0">
                <a:latin typeface="Libre Baskerville" panose="02000000000000000000" pitchFamily="2" charset="0"/>
              </a:rPr>
              <a:t> multi-language support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600" dirty="0">
                <a:latin typeface="Libre Baskerville" panose="02000000000000000000" pitchFamily="2" charset="0"/>
              </a:rPr>
              <a:t> location mapping</a:t>
            </a:r>
          </a:p>
        </p:txBody>
      </p:sp>
      <p:pic>
        <p:nvPicPr>
          <p:cNvPr id="9" name="Picture 8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32D23801-1CEE-5FF9-B1F5-7705FF04A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466" y="5352497"/>
            <a:ext cx="9144000" cy="4496220"/>
          </a:xfrm>
          <a:prstGeom prst="rect">
            <a:avLst/>
          </a:prstGeom>
        </p:spPr>
      </p:pic>
      <p:pic>
        <p:nvPicPr>
          <p:cNvPr id="11" name="Picture 10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40906D7C-F6E1-3A4F-C410-D9F904AC8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8600" y="1387322"/>
            <a:ext cx="1635325" cy="15854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ABD40C-AA6F-E7CC-24CA-BFD017990E07}"/>
              </a:ext>
            </a:extLst>
          </p:cNvPr>
          <p:cNvSpPr txBox="1"/>
          <p:nvPr/>
        </p:nvSpPr>
        <p:spPr>
          <a:xfrm>
            <a:off x="17602200" y="9499208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42372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DE666B37-EFC1-07C1-DD12-7408608AFE6A}"/>
              </a:ext>
            </a:extLst>
          </p:cNvPr>
          <p:cNvSpPr/>
          <p:nvPr/>
        </p:nvSpPr>
        <p:spPr>
          <a:xfrm>
            <a:off x="1" y="0"/>
            <a:ext cx="17830800" cy="10275188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</p:spPr>
        <p:txBody>
          <a:bodyPr/>
          <a:lstStyle/>
          <a:p>
            <a:endParaRPr lang="en-IL" dirty="0"/>
          </a:p>
        </p:txBody>
      </p:sp>
      <p:pic>
        <p:nvPicPr>
          <p:cNvPr id="3" name="Online Media 2" descr="webVideo">
            <a:hlinkClick r:id="" action="ppaction://media"/>
            <a:extLst>
              <a:ext uri="{FF2B5EF4-FFF2-40B4-BE49-F238E27FC236}">
                <a16:creationId xmlns:a16="http://schemas.microsoft.com/office/drawing/2014/main" id="{8E84B97D-FBF9-E1AE-D613-E64553B200C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590800" y="6369"/>
            <a:ext cx="13727909" cy="102959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55E9D0-253F-D260-C8A3-FEF902213D3F}"/>
              </a:ext>
            </a:extLst>
          </p:cNvPr>
          <p:cNvSpPr txBox="1"/>
          <p:nvPr/>
        </p:nvSpPr>
        <p:spPr>
          <a:xfrm>
            <a:off x="17297401" y="9454975"/>
            <a:ext cx="10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800" b="1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6344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24031" y="2453342"/>
            <a:ext cx="12839937" cy="440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824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Thanks For Listening</a:t>
            </a:r>
          </a:p>
          <a:p>
            <a:pPr algn="ctr">
              <a:lnSpc>
                <a:spcPts val="6937"/>
              </a:lnSpc>
            </a:pPr>
            <a:endParaRPr lang="en-US" sz="8249" dirty="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ctr">
              <a:lnSpc>
                <a:spcPts val="6937"/>
              </a:lnSpc>
            </a:pPr>
            <a:endParaRPr lang="en-US" sz="8249" dirty="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ctr">
              <a:lnSpc>
                <a:spcPts val="6937"/>
              </a:lnSpc>
            </a:pPr>
            <a:endParaRPr lang="en-US" sz="8249" dirty="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ctr">
              <a:lnSpc>
                <a:spcPts val="6937"/>
              </a:lnSpc>
            </a:pPr>
            <a:r>
              <a:rPr lang="en-US" sz="74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Any Questions</a:t>
            </a:r>
          </a:p>
          <a:p>
            <a:pPr algn="ctr">
              <a:lnSpc>
                <a:spcPts val="6937"/>
              </a:lnSpc>
            </a:pPr>
            <a:endParaRPr lang="en-US" sz="7499" dirty="0">
              <a:solidFill>
                <a:srgbClr val="5C4E3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" name="Freeform 6" descr="Questions outline"/>
          <p:cNvSpPr/>
          <p:nvPr/>
        </p:nvSpPr>
        <p:spPr>
          <a:xfrm>
            <a:off x="7139940" y="6858000"/>
            <a:ext cx="3573780" cy="3573780"/>
          </a:xfrm>
          <a:custGeom>
            <a:avLst/>
            <a:gdLst/>
            <a:ahLst/>
            <a:cxnLst/>
            <a:rect l="l" t="t" r="r" b="b"/>
            <a:pathLst>
              <a:path w="3573780" h="3573780">
                <a:moveTo>
                  <a:pt x="0" y="0"/>
                </a:moveTo>
                <a:lnTo>
                  <a:pt x="3573780" y="0"/>
                </a:lnTo>
                <a:lnTo>
                  <a:pt x="3573780" y="3573780"/>
                </a:lnTo>
                <a:lnTo>
                  <a:pt x="0" y="357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660</Words>
  <Application>Microsoft Macintosh PowerPoint</Application>
  <PresentationFormat>Custom</PresentationFormat>
  <Paragraphs>159</Paragraphs>
  <Slides>14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Courier New</vt:lpstr>
      <vt:lpstr>Helvetica Neue</vt:lpstr>
      <vt:lpstr>Aptos</vt:lpstr>
      <vt:lpstr>Arial</vt:lpstr>
      <vt:lpstr>Libre Baskerville</vt:lpstr>
      <vt:lpstr>Avenir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מובדא שחאדה</cp:lastModifiedBy>
  <cp:revision>194</cp:revision>
  <dcterms:created xsi:type="dcterms:W3CDTF">2006-08-16T00:00:00Z</dcterms:created>
  <dcterms:modified xsi:type="dcterms:W3CDTF">2025-09-09T06:01:15Z</dcterms:modified>
  <dc:identifier>DAGdhuF2Z5o</dc:identifier>
</cp:coreProperties>
</file>